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5009" r:id="rId2"/>
    <p:sldId id="5027" r:id="rId3"/>
    <p:sldId id="5028" r:id="rId4"/>
    <p:sldId id="5032" r:id="rId5"/>
    <p:sldId id="5037" r:id="rId6"/>
    <p:sldId id="5035" r:id="rId7"/>
    <p:sldId id="5013" r:id="rId8"/>
    <p:sldId id="5055" r:id="rId9"/>
    <p:sldId id="5033" r:id="rId10"/>
    <p:sldId id="5034" r:id="rId11"/>
    <p:sldId id="5078" r:id="rId12"/>
    <p:sldId id="5082" r:id="rId13"/>
    <p:sldId id="5080" r:id="rId14"/>
    <p:sldId id="5008" r:id="rId15"/>
    <p:sldId id="5081" r:id="rId16"/>
    <p:sldId id="5083" r:id="rId17"/>
    <p:sldId id="5084" r:id="rId18"/>
    <p:sldId id="5059" r:id="rId19"/>
    <p:sldId id="5061" r:id="rId20"/>
    <p:sldId id="5062" r:id="rId21"/>
    <p:sldId id="5063" r:id="rId22"/>
    <p:sldId id="5065" r:id="rId23"/>
    <p:sldId id="5066" r:id="rId24"/>
    <p:sldId id="5068" r:id="rId25"/>
    <p:sldId id="5069" r:id="rId26"/>
    <p:sldId id="5070" r:id="rId27"/>
    <p:sldId id="5071" r:id="rId28"/>
    <p:sldId id="5072" r:id="rId29"/>
    <p:sldId id="5073" r:id="rId30"/>
    <p:sldId id="5074" r:id="rId31"/>
    <p:sldId id="5075" r:id="rId32"/>
    <p:sldId id="5076" r:id="rId33"/>
    <p:sldId id="5077" r:id="rId34"/>
    <p:sldId id="5085" r:id="rId35"/>
    <p:sldId id="5053" r:id="rId36"/>
    <p:sldId id="505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51BB38-478E-6FE7-EEFB-8BBEDAE6C2A6}" name="Slagel, Tanner (LARC-D320)" initials="ST(D" userId="S::jtslagel@ndc.nasa.gov::e29b6917-bd7a-4df8-ae42-c4d8e1dfc56c" providerId="AD"/>
  <p188:author id="{485FC54F-C590-3C14-0015-B1FB63EBCC8B}" name="White, Lauren M {she,her} (LARC-D320)" initials="LW" userId="S::lmwhite3@ndc.nasa.gov::693fa5ce-29c2-4b15-9433-62f5fb10ee1c" providerId="AD"/>
  <p188:author id="{56CD53C2-0657-DE78-25D9-BDC5D04402AA}" name="Crespo-Berker, Nicolas (LARC-D316)[Intern]" initials="CBN(D" userId="S::ncrespo1@ndc.nasa.gov::d07747a7-2ec6-4c24-b3ec-8ed2f297e25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9DC2F5-3E2C-E542-B9B7-0F78223EC498}" v="2923" dt="2025-08-07T16:05:48.897"/>
    <p1510:client id="{A5407D6E-261D-0B48-AE98-D3E56E80C199}" v="5641" dt="2025-08-07T19:28:57.5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49" d="100"/>
          <a:sy n="149" d="100"/>
        </p:scale>
        <p:origin x="19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1FC3B1-2620-B44F-8E1E-04D52CE70294}" type="doc">
      <dgm:prSet loTypeId="urn:microsoft.com/office/officeart/2005/8/layout/venn2" loCatId="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65F6E1-F4D8-2E47-BA73-5E444A930039}">
      <dgm:prSet phldrT="[Text]" custT="1"/>
      <dgm:spPr/>
      <dgm:t>
        <a:bodyPr/>
        <a:lstStyle/>
        <a:p>
          <a:r>
            <a:rPr lang="en-US" sz="1400"/>
            <a:t>Prototype Verification System (PVS)</a:t>
          </a:r>
        </a:p>
      </dgm:t>
    </dgm:pt>
    <dgm:pt modelId="{1F46FD12-3287-9D4F-BA49-D070A27FCEB7}" type="parTrans" cxnId="{EADC976A-5E75-2D4A-9141-F5D4F54A50E1}">
      <dgm:prSet/>
      <dgm:spPr/>
      <dgm:t>
        <a:bodyPr/>
        <a:lstStyle/>
        <a:p>
          <a:endParaRPr lang="en-US"/>
        </a:p>
      </dgm:t>
    </dgm:pt>
    <dgm:pt modelId="{D5E4D7E1-DF28-1141-93D4-31C5ABAC266B}" type="sibTrans" cxnId="{EADC976A-5E75-2D4A-9141-F5D4F54A50E1}">
      <dgm:prSet/>
      <dgm:spPr/>
      <dgm:t>
        <a:bodyPr/>
        <a:lstStyle/>
        <a:p>
          <a:endParaRPr lang="en-US"/>
        </a:p>
      </dgm:t>
    </dgm:pt>
    <dgm:pt modelId="{FD1F8F38-E3BE-B04D-ABDA-2D220FC4D339}">
      <dgm:prSet phldrT="[Text]"/>
      <dgm:spPr/>
      <dgm:t>
        <a:bodyPr/>
        <a:lstStyle/>
        <a:p>
          <a:r>
            <a:rPr lang="en-US" b="0"/>
            <a:t>Plaidypvs</a:t>
          </a:r>
          <a:r>
            <a:rPr lang="en-US" b="0" baseline="30000"/>
            <a:t>[1]</a:t>
          </a:r>
          <a:endParaRPr lang="en-US" b="0"/>
        </a:p>
      </dgm:t>
    </dgm:pt>
    <dgm:pt modelId="{40DBD612-380A-4740-A405-413C51A30934}" type="parTrans" cxnId="{BFAF5613-8EF6-A241-9E95-E0F75230881D}">
      <dgm:prSet/>
      <dgm:spPr/>
      <dgm:t>
        <a:bodyPr/>
        <a:lstStyle/>
        <a:p>
          <a:endParaRPr lang="en-US"/>
        </a:p>
      </dgm:t>
    </dgm:pt>
    <dgm:pt modelId="{86A613A0-3AA8-3A45-81F1-5D08D0170CAD}" type="sibTrans" cxnId="{BFAF5613-8EF6-A241-9E95-E0F75230881D}">
      <dgm:prSet/>
      <dgm:spPr/>
      <dgm:t>
        <a:bodyPr/>
        <a:lstStyle/>
        <a:p>
          <a:endParaRPr lang="en-US"/>
        </a:p>
      </dgm:t>
    </dgm:pt>
    <dgm:pt modelId="{01A6BFD2-DB0A-2641-A958-620FD13F0779}">
      <dgm:prSet phldrT="[Text]"/>
      <dgm:spPr/>
      <dgm:t>
        <a:bodyPr/>
        <a:lstStyle/>
        <a:p>
          <a:r>
            <a:rPr lang="en-US"/>
            <a:t>Hybrid Programs (HP)</a:t>
          </a:r>
        </a:p>
      </dgm:t>
    </dgm:pt>
    <dgm:pt modelId="{9B6F97AD-B981-774F-A6E7-664D9EE8D209}" type="parTrans" cxnId="{22521611-45BB-A649-B415-C15196623877}">
      <dgm:prSet/>
      <dgm:spPr/>
      <dgm:t>
        <a:bodyPr/>
        <a:lstStyle/>
        <a:p>
          <a:endParaRPr lang="en-US"/>
        </a:p>
      </dgm:t>
    </dgm:pt>
    <dgm:pt modelId="{59ADD0CF-880D-2143-B9DC-C9B48B41169F}" type="sibTrans" cxnId="{22521611-45BB-A649-B415-C15196623877}">
      <dgm:prSet/>
      <dgm:spPr/>
      <dgm:t>
        <a:bodyPr/>
        <a:lstStyle/>
        <a:p>
          <a:endParaRPr lang="en-US"/>
        </a:p>
      </dgm:t>
    </dgm:pt>
    <dgm:pt modelId="{D758F063-B46B-4343-AC36-8B8AAA4E3EB3}">
      <dgm:prSet/>
      <dgm:spPr>
        <a:gradFill rotWithShape="0">
          <a:gsLst>
            <a:gs pos="0">
              <a:schemeClr val="accent2">
                <a:lumMod val="60000"/>
                <a:lumOff val="40000"/>
              </a:schemeClr>
            </a:gs>
            <a:gs pos="48000">
              <a:schemeClr val="accent2">
                <a:lumMod val="60000"/>
                <a:lumOff val="40000"/>
              </a:schemeClr>
            </a:gs>
            <a:gs pos="99000">
              <a:schemeClr val="accent2">
                <a:lumMod val="75000"/>
              </a:schemeClr>
            </a:gs>
          </a:gsLst>
        </a:gradFill>
      </dgm:spPr>
      <dgm:t>
        <a:bodyPr/>
        <a:lstStyle/>
        <a:p>
          <a:r>
            <a:rPr lang="en-US"/>
            <a:t>Flight Programs (FP)</a:t>
          </a:r>
        </a:p>
      </dgm:t>
    </dgm:pt>
    <dgm:pt modelId="{9B9843DC-51FD-5E42-BE5A-75FBE6283501}" type="parTrans" cxnId="{418248CA-8FB9-7B41-9C54-03724E933C1F}">
      <dgm:prSet/>
      <dgm:spPr/>
      <dgm:t>
        <a:bodyPr/>
        <a:lstStyle/>
        <a:p>
          <a:endParaRPr lang="en-US"/>
        </a:p>
      </dgm:t>
    </dgm:pt>
    <dgm:pt modelId="{130F7A65-D24A-344D-B7BD-70A5C4C29293}" type="sibTrans" cxnId="{418248CA-8FB9-7B41-9C54-03724E933C1F}">
      <dgm:prSet/>
      <dgm:spPr/>
      <dgm:t>
        <a:bodyPr/>
        <a:lstStyle/>
        <a:p>
          <a:endParaRPr lang="en-US"/>
        </a:p>
      </dgm:t>
    </dgm:pt>
    <dgm:pt modelId="{B4609EDC-6D77-B94A-A4A8-12EA20981047}" type="pres">
      <dgm:prSet presAssocID="{E31FC3B1-2620-B44F-8E1E-04D52CE70294}" presName="Name0" presStyleCnt="0">
        <dgm:presLayoutVars>
          <dgm:chMax val="7"/>
          <dgm:resizeHandles val="exact"/>
        </dgm:presLayoutVars>
      </dgm:prSet>
      <dgm:spPr/>
    </dgm:pt>
    <dgm:pt modelId="{2ABCFC12-14C6-504C-9EA2-3A5D827FFC0E}" type="pres">
      <dgm:prSet presAssocID="{E31FC3B1-2620-B44F-8E1E-04D52CE70294}" presName="comp1" presStyleCnt="0"/>
      <dgm:spPr/>
    </dgm:pt>
    <dgm:pt modelId="{8CF0F104-876D-9F4E-A69D-856A44FE1C8E}" type="pres">
      <dgm:prSet presAssocID="{E31FC3B1-2620-B44F-8E1E-04D52CE70294}" presName="circle1" presStyleLbl="node1" presStyleIdx="0" presStyleCnt="4"/>
      <dgm:spPr/>
    </dgm:pt>
    <dgm:pt modelId="{71990C9C-49D3-E74F-AF58-DBC1F7F3A94E}" type="pres">
      <dgm:prSet presAssocID="{E31FC3B1-2620-B44F-8E1E-04D52CE70294}" presName="c1text" presStyleLbl="node1" presStyleIdx="0" presStyleCnt="4">
        <dgm:presLayoutVars>
          <dgm:bulletEnabled val="1"/>
        </dgm:presLayoutVars>
      </dgm:prSet>
      <dgm:spPr/>
    </dgm:pt>
    <dgm:pt modelId="{4E8607F9-819A-E842-BCBD-9A3F6EFEE170}" type="pres">
      <dgm:prSet presAssocID="{E31FC3B1-2620-B44F-8E1E-04D52CE70294}" presName="comp2" presStyleCnt="0"/>
      <dgm:spPr/>
    </dgm:pt>
    <dgm:pt modelId="{E6EF5109-03FE-FE43-A78B-3F697BBC9A55}" type="pres">
      <dgm:prSet presAssocID="{E31FC3B1-2620-B44F-8E1E-04D52CE70294}" presName="circle2" presStyleLbl="node1" presStyleIdx="1" presStyleCnt="4"/>
      <dgm:spPr/>
    </dgm:pt>
    <dgm:pt modelId="{586EECFD-86C8-8048-A150-8477DA83761C}" type="pres">
      <dgm:prSet presAssocID="{E31FC3B1-2620-B44F-8E1E-04D52CE70294}" presName="c2text" presStyleLbl="node1" presStyleIdx="1" presStyleCnt="4">
        <dgm:presLayoutVars>
          <dgm:bulletEnabled val="1"/>
        </dgm:presLayoutVars>
      </dgm:prSet>
      <dgm:spPr/>
    </dgm:pt>
    <dgm:pt modelId="{0E2A65C1-17DC-1F40-B402-C9E37F701760}" type="pres">
      <dgm:prSet presAssocID="{E31FC3B1-2620-B44F-8E1E-04D52CE70294}" presName="comp3" presStyleCnt="0"/>
      <dgm:spPr/>
    </dgm:pt>
    <dgm:pt modelId="{8546B481-3AB9-864B-A7A3-48F417095CA1}" type="pres">
      <dgm:prSet presAssocID="{E31FC3B1-2620-B44F-8E1E-04D52CE70294}" presName="circle3" presStyleLbl="node1" presStyleIdx="2" presStyleCnt="4"/>
      <dgm:spPr/>
    </dgm:pt>
    <dgm:pt modelId="{32291409-81F4-B644-AE5A-E4FA1168EA01}" type="pres">
      <dgm:prSet presAssocID="{E31FC3B1-2620-B44F-8E1E-04D52CE70294}" presName="c3text" presStyleLbl="node1" presStyleIdx="2" presStyleCnt="4">
        <dgm:presLayoutVars>
          <dgm:bulletEnabled val="1"/>
        </dgm:presLayoutVars>
      </dgm:prSet>
      <dgm:spPr/>
    </dgm:pt>
    <dgm:pt modelId="{0351F55A-CD21-5645-88B7-68CB8C5E5990}" type="pres">
      <dgm:prSet presAssocID="{E31FC3B1-2620-B44F-8E1E-04D52CE70294}" presName="comp4" presStyleCnt="0"/>
      <dgm:spPr/>
    </dgm:pt>
    <dgm:pt modelId="{7F50E3C8-36D1-F74E-8869-138EB49B4EFD}" type="pres">
      <dgm:prSet presAssocID="{E31FC3B1-2620-B44F-8E1E-04D52CE70294}" presName="circle4" presStyleLbl="node1" presStyleIdx="3" presStyleCnt="4"/>
      <dgm:spPr/>
    </dgm:pt>
    <dgm:pt modelId="{A84C4448-D21C-9341-B4E2-9497073829F9}" type="pres">
      <dgm:prSet presAssocID="{E31FC3B1-2620-B44F-8E1E-04D52CE70294}" presName="c4text" presStyleLbl="node1" presStyleIdx="3" presStyleCnt="4">
        <dgm:presLayoutVars>
          <dgm:bulletEnabled val="1"/>
        </dgm:presLayoutVars>
      </dgm:prSet>
      <dgm:spPr/>
    </dgm:pt>
  </dgm:ptLst>
  <dgm:cxnLst>
    <dgm:cxn modelId="{22521611-45BB-A649-B415-C15196623877}" srcId="{E31FC3B1-2620-B44F-8E1E-04D52CE70294}" destId="{01A6BFD2-DB0A-2641-A958-620FD13F0779}" srcOrd="2" destOrd="0" parTransId="{9B6F97AD-B981-774F-A6E7-664D9EE8D209}" sibTransId="{59ADD0CF-880D-2143-B9DC-C9B48B41169F}"/>
    <dgm:cxn modelId="{BFAF5613-8EF6-A241-9E95-E0F75230881D}" srcId="{E31FC3B1-2620-B44F-8E1E-04D52CE70294}" destId="{FD1F8F38-E3BE-B04D-ABDA-2D220FC4D339}" srcOrd="1" destOrd="0" parTransId="{40DBD612-380A-4740-A405-413C51A30934}" sibTransId="{86A613A0-3AA8-3A45-81F1-5D08D0170CAD}"/>
    <dgm:cxn modelId="{14EE0F16-28BA-1443-AAF8-FF3DDE91500F}" type="presOf" srcId="{5C65F6E1-F4D8-2E47-BA73-5E444A930039}" destId="{71990C9C-49D3-E74F-AF58-DBC1F7F3A94E}" srcOrd="1" destOrd="0" presId="urn:microsoft.com/office/officeart/2005/8/layout/venn2"/>
    <dgm:cxn modelId="{AF03B033-1E00-5941-99BD-28F6485C423D}" type="presOf" srcId="{5C65F6E1-F4D8-2E47-BA73-5E444A930039}" destId="{8CF0F104-876D-9F4E-A69D-856A44FE1C8E}" srcOrd="0" destOrd="0" presId="urn:microsoft.com/office/officeart/2005/8/layout/venn2"/>
    <dgm:cxn modelId="{B206EF53-7975-5F48-802B-7E77609B8451}" type="presOf" srcId="{01A6BFD2-DB0A-2641-A958-620FD13F0779}" destId="{8546B481-3AB9-864B-A7A3-48F417095CA1}" srcOrd="0" destOrd="0" presId="urn:microsoft.com/office/officeart/2005/8/layout/venn2"/>
    <dgm:cxn modelId="{F3D25056-D79D-E948-92CD-38E30B2AE4D8}" type="presOf" srcId="{FD1F8F38-E3BE-B04D-ABDA-2D220FC4D339}" destId="{586EECFD-86C8-8048-A150-8477DA83761C}" srcOrd="1" destOrd="0" presId="urn:microsoft.com/office/officeart/2005/8/layout/venn2"/>
    <dgm:cxn modelId="{EADC976A-5E75-2D4A-9141-F5D4F54A50E1}" srcId="{E31FC3B1-2620-B44F-8E1E-04D52CE70294}" destId="{5C65F6E1-F4D8-2E47-BA73-5E444A930039}" srcOrd="0" destOrd="0" parTransId="{1F46FD12-3287-9D4F-BA49-D070A27FCEB7}" sibTransId="{D5E4D7E1-DF28-1141-93D4-31C5ABAC266B}"/>
    <dgm:cxn modelId="{5D2F1292-F761-2344-A7A6-9F14AF19AB20}" type="presOf" srcId="{D758F063-B46B-4343-AC36-8B8AAA4E3EB3}" destId="{7F50E3C8-36D1-F74E-8869-138EB49B4EFD}" srcOrd="0" destOrd="0" presId="urn:microsoft.com/office/officeart/2005/8/layout/venn2"/>
    <dgm:cxn modelId="{41D0DCAB-CF1D-3744-9776-8B35EF97F365}" type="presOf" srcId="{01A6BFD2-DB0A-2641-A958-620FD13F0779}" destId="{32291409-81F4-B644-AE5A-E4FA1168EA01}" srcOrd="1" destOrd="0" presId="urn:microsoft.com/office/officeart/2005/8/layout/venn2"/>
    <dgm:cxn modelId="{AAA106B3-A60F-9149-ACCE-E5D95F0F25A5}" type="presOf" srcId="{FD1F8F38-E3BE-B04D-ABDA-2D220FC4D339}" destId="{E6EF5109-03FE-FE43-A78B-3F697BBC9A55}" srcOrd="0" destOrd="0" presId="urn:microsoft.com/office/officeart/2005/8/layout/venn2"/>
    <dgm:cxn modelId="{8AF110BA-31F4-5E45-B1FA-198335762A33}" type="presOf" srcId="{E31FC3B1-2620-B44F-8E1E-04D52CE70294}" destId="{B4609EDC-6D77-B94A-A4A8-12EA20981047}" srcOrd="0" destOrd="0" presId="urn:microsoft.com/office/officeart/2005/8/layout/venn2"/>
    <dgm:cxn modelId="{418248CA-8FB9-7B41-9C54-03724E933C1F}" srcId="{E31FC3B1-2620-B44F-8E1E-04D52CE70294}" destId="{D758F063-B46B-4343-AC36-8B8AAA4E3EB3}" srcOrd="3" destOrd="0" parTransId="{9B9843DC-51FD-5E42-BE5A-75FBE6283501}" sibTransId="{130F7A65-D24A-344D-B7BD-70A5C4C29293}"/>
    <dgm:cxn modelId="{A6250DF5-04A0-FD41-84DE-5965A9B7D482}" type="presOf" srcId="{D758F063-B46B-4343-AC36-8B8AAA4E3EB3}" destId="{A84C4448-D21C-9341-B4E2-9497073829F9}" srcOrd="1" destOrd="0" presId="urn:microsoft.com/office/officeart/2005/8/layout/venn2"/>
    <dgm:cxn modelId="{1A350A4F-AB67-6446-A389-A42FA7195C5E}" type="presParOf" srcId="{B4609EDC-6D77-B94A-A4A8-12EA20981047}" destId="{2ABCFC12-14C6-504C-9EA2-3A5D827FFC0E}" srcOrd="0" destOrd="0" presId="urn:microsoft.com/office/officeart/2005/8/layout/venn2"/>
    <dgm:cxn modelId="{3BFACBCB-DCA5-F143-8287-32D4E510811F}" type="presParOf" srcId="{2ABCFC12-14C6-504C-9EA2-3A5D827FFC0E}" destId="{8CF0F104-876D-9F4E-A69D-856A44FE1C8E}" srcOrd="0" destOrd="0" presId="urn:microsoft.com/office/officeart/2005/8/layout/venn2"/>
    <dgm:cxn modelId="{4493EF0D-4803-4A4C-9609-09A934A7A5A9}" type="presParOf" srcId="{2ABCFC12-14C6-504C-9EA2-3A5D827FFC0E}" destId="{71990C9C-49D3-E74F-AF58-DBC1F7F3A94E}" srcOrd="1" destOrd="0" presId="urn:microsoft.com/office/officeart/2005/8/layout/venn2"/>
    <dgm:cxn modelId="{16B6F45A-1D7A-8A45-BC0B-779CDE3C61A8}" type="presParOf" srcId="{B4609EDC-6D77-B94A-A4A8-12EA20981047}" destId="{4E8607F9-819A-E842-BCBD-9A3F6EFEE170}" srcOrd="1" destOrd="0" presId="urn:microsoft.com/office/officeart/2005/8/layout/venn2"/>
    <dgm:cxn modelId="{E98D577F-75B5-8640-A3BB-8689B567DCB3}" type="presParOf" srcId="{4E8607F9-819A-E842-BCBD-9A3F6EFEE170}" destId="{E6EF5109-03FE-FE43-A78B-3F697BBC9A55}" srcOrd="0" destOrd="0" presId="urn:microsoft.com/office/officeart/2005/8/layout/venn2"/>
    <dgm:cxn modelId="{EAFC333B-6EF4-F744-83F9-9F54187F5733}" type="presParOf" srcId="{4E8607F9-819A-E842-BCBD-9A3F6EFEE170}" destId="{586EECFD-86C8-8048-A150-8477DA83761C}" srcOrd="1" destOrd="0" presId="urn:microsoft.com/office/officeart/2005/8/layout/venn2"/>
    <dgm:cxn modelId="{6FC3D6E7-9CF0-874B-8298-A8432B0E8CAC}" type="presParOf" srcId="{B4609EDC-6D77-B94A-A4A8-12EA20981047}" destId="{0E2A65C1-17DC-1F40-B402-C9E37F701760}" srcOrd="2" destOrd="0" presId="urn:microsoft.com/office/officeart/2005/8/layout/venn2"/>
    <dgm:cxn modelId="{89C44AA0-71E4-E040-B5F2-CEF88015A8AC}" type="presParOf" srcId="{0E2A65C1-17DC-1F40-B402-C9E37F701760}" destId="{8546B481-3AB9-864B-A7A3-48F417095CA1}" srcOrd="0" destOrd="0" presId="urn:microsoft.com/office/officeart/2005/8/layout/venn2"/>
    <dgm:cxn modelId="{6C0F1A66-9438-DB45-8AFE-0EBAA11FBCE8}" type="presParOf" srcId="{0E2A65C1-17DC-1F40-B402-C9E37F701760}" destId="{32291409-81F4-B644-AE5A-E4FA1168EA01}" srcOrd="1" destOrd="0" presId="urn:microsoft.com/office/officeart/2005/8/layout/venn2"/>
    <dgm:cxn modelId="{52BD8DF7-22E4-674F-BE36-13F70A08CDE6}" type="presParOf" srcId="{B4609EDC-6D77-B94A-A4A8-12EA20981047}" destId="{0351F55A-CD21-5645-88B7-68CB8C5E5990}" srcOrd="3" destOrd="0" presId="urn:microsoft.com/office/officeart/2005/8/layout/venn2"/>
    <dgm:cxn modelId="{139CC698-6907-1B45-9EDC-65198DA351C6}" type="presParOf" srcId="{0351F55A-CD21-5645-88B7-68CB8C5E5990}" destId="{7F50E3C8-36D1-F74E-8869-138EB49B4EFD}" srcOrd="0" destOrd="0" presId="urn:microsoft.com/office/officeart/2005/8/layout/venn2"/>
    <dgm:cxn modelId="{9AFC30C1-AE64-724B-9F8B-336635C959DA}" type="presParOf" srcId="{0351F55A-CD21-5645-88B7-68CB8C5E5990}" destId="{A84C4448-D21C-9341-B4E2-9497073829F9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F0F104-876D-9F4E-A69D-856A44FE1C8E}">
      <dsp:nvSpPr>
        <dsp:cNvPr id="0" name=""/>
        <dsp:cNvSpPr/>
      </dsp:nvSpPr>
      <dsp:spPr>
        <a:xfrm>
          <a:off x="366740" y="0"/>
          <a:ext cx="4962903" cy="496290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Prototype Verification System (PVS)</a:t>
          </a:r>
        </a:p>
      </dsp:txBody>
      <dsp:txXfrm>
        <a:off x="2154378" y="248145"/>
        <a:ext cx="1387627" cy="744435"/>
      </dsp:txXfrm>
    </dsp:sp>
    <dsp:sp modelId="{E6EF5109-03FE-FE43-A78B-3F697BBC9A55}">
      <dsp:nvSpPr>
        <dsp:cNvPr id="0" name=""/>
        <dsp:cNvSpPr/>
      </dsp:nvSpPr>
      <dsp:spPr>
        <a:xfrm>
          <a:off x="863031" y="992580"/>
          <a:ext cx="3970322" cy="397032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/>
            <a:t>Plaidypvs</a:t>
          </a:r>
          <a:r>
            <a:rPr lang="en-US" sz="1500" b="0" kern="1200" baseline="30000"/>
            <a:t>[1]</a:t>
          </a:r>
          <a:endParaRPr lang="en-US" sz="1500" b="0" kern="1200"/>
        </a:p>
      </dsp:txBody>
      <dsp:txXfrm>
        <a:off x="2154378" y="1230799"/>
        <a:ext cx="1387627" cy="714658"/>
      </dsp:txXfrm>
    </dsp:sp>
    <dsp:sp modelId="{8546B481-3AB9-864B-A7A3-48F417095CA1}">
      <dsp:nvSpPr>
        <dsp:cNvPr id="0" name=""/>
        <dsp:cNvSpPr/>
      </dsp:nvSpPr>
      <dsp:spPr>
        <a:xfrm>
          <a:off x="1359321" y="1985161"/>
          <a:ext cx="2977741" cy="297774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Hybrid Programs (HP)</a:t>
          </a:r>
        </a:p>
      </dsp:txBody>
      <dsp:txXfrm>
        <a:off x="2154378" y="2208491"/>
        <a:ext cx="1387627" cy="669991"/>
      </dsp:txXfrm>
    </dsp:sp>
    <dsp:sp modelId="{7F50E3C8-36D1-F74E-8869-138EB49B4EFD}">
      <dsp:nvSpPr>
        <dsp:cNvPr id="0" name=""/>
        <dsp:cNvSpPr/>
      </dsp:nvSpPr>
      <dsp:spPr>
        <a:xfrm>
          <a:off x="1855611" y="2977741"/>
          <a:ext cx="1985161" cy="1985161"/>
        </a:xfrm>
        <a:prstGeom prst="ellipse">
          <a:avLst/>
        </a:prstGeom>
        <a:gradFill rotWithShape="0">
          <a:gsLst>
            <a:gs pos="0">
              <a:schemeClr val="accent2">
                <a:lumMod val="60000"/>
                <a:lumOff val="40000"/>
              </a:schemeClr>
            </a:gs>
            <a:gs pos="48000">
              <a:schemeClr val="accent2">
                <a:lumMod val="60000"/>
                <a:lumOff val="40000"/>
              </a:schemeClr>
            </a:gs>
            <a:gs pos="99000">
              <a:schemeClr val="accent2">
                <a:lumMod val="7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Flight Programs (FP)</a:t>
          </a:r>
        </a:p>
      </dsp:txBody>
      <dsp:txXfrm>
        <a:off x="2146332" y="3474032"/>
        <a:ext cx="1403720" cy="992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FB875-2916-A147-8F45-5B195819D5BE}" type="datetimeFigureOut">
              <a:rPr lang="en-US" smtClean="0"/>
              <a:t>8/8/25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C4644-A23A-6F45-94E2-29F25BF28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766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C8C43-DB26-A243-8EC0-2EFA8A8CE1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1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9A852-10C5-C224-9F6F-FB802D240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B5D40-20AD-7145-FA8D-00A309683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A9EF7-2530-5393-72BE-11958318E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ED741-F75E-A211-CDA4-405DBCFEE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C8C43-DB26-A243-8EC0-2EFA8A8CE1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3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A0F5B-3A2A-F712-FC14-BEB0D4249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145F22-0CDA-E1FA-2C7C-66EC4B705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42F04-81E4-3381-7244-6F2D1ED55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6AAC9-4BF9-40F0-9BB2-E78417F73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C8C43-DB26-A243-8EC0-2EFA8A8CE1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44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A6D31-EF96-432C-0043-5E38CE30D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8DF05-95F1-AC4F-DF2C-32F55A7D6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04C30-355F-86D8-37D1-027E06008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8B85E-72C6-36D5-2A85-AC7515262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C8C43-DB26-A243-8EC0-2EFA8A8CE1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77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FAED9-FF4A-5DA9-F0A0-8B9C944CB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07D4A-B183-B890-CE9B-08B6BB686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C22B5-CD18-C754-E742-17BC87F9A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F2E3A-26BF-1944-E1A0-C2B089875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C8C43-DB26-A243-8EC0-2EFA8A8CE1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74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84FF-AC5D-EA3D-AA18-2CAB05C99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EA7CE-69A8-FE08-65D3-48DC06C5A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6BEF9-6F9F-AC00-95A2-A69DABD6D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 about the ... and how what the first two function actually take is a variable with its assignment as a tuple</a:t>
            </a:r>
          </a:p>
          <a:p>
            <a:r>
              <a:rPr lang="en-US"/>
              <a:t>explain what ++is</a:t>
            </a:r>
          </a:p>
          <a:p>
            <a:r>
              <a:rPr lang="en-US"/>
              <a:t>“continuous”</a:t>
            </a:r>
          </a:p>
          <a:p>
            <a:r>
              <a:rPr lang="en-US"/>
              <a:t>we can talk about any time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FB168-34A5-3713-ADFD-DF0043408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4644-A23A-6F45-94E2-29F25BF28D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883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-First part of the slide ask "Why do we want to represent flight paths this this way"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4644-A23A-6F45-94E2-29F25BF28D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055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6F133-3856-0B6D-B1C3-4608454F4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BAC64-9E90-C71B-ED48-1DC8AAA70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D089F-DC96-55EF-1E7D-24AE3BEBB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-First part of the slide ask "Why do we want to represent flight paths this this way"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36BD1-C488-2DCD-77CF-ADEE72D66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4644-A23A-6F45-94E2-29F25BF28D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0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ACF22-E363-9E45-4360-341817BC6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CF291-2A6A-582F-AACD-3FFB0E5B4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C4CDF-0E1C-9DAF-8CEE-E333139D0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-First part of the slide ask "Why do we want to represent flight paths this this way"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08966-5F6A-CB09-5A31-164FFD457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4644-A23A-6F45-94E2-29F25BF28D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7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7EAF2-81D5-A343-9FC4-B79D0BF0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1B5D54-7231-E12C-B31C-3E391A6AB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0DDD4D-F78A-6EB1-FCAC-2C65D1C06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-First part of the slide ask "Why do we want to represent flight paths this this way"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EAA8A-13D8-28F9-2457-5E090044B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4644-A23A-6F45-94E2-29F25BF28D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63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326B3-E591-968A-0449-9C4ADFC55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E48F0-4E2F-BE4B-F0A6-8A5BE6522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B7DE0B-A387-8CB2-C1F2-E19A80D4B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-First part of the slide ask "Why do we want to represent flight paths this this way”</a:t>
            </a:r>
          </a:p>
          <a:p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we have this description of a trajectory</a:t>
            </a:r>
          </a:p>
          <a:p>
            <a:pPr marL="171450" indent="-171450">
              <a:buFontTx/>
              <a:buChar char="-"/>
            </a:pPr>
            <a:r>
              <a:rPr lang="en-US"/>
              <a:t>now we want to prove properties</a:t>
            </a:r>
          </a:p>
          <a:p>
            <a:pPr marL="171450" indent="-171450">
              <a:buFontTx/>
              <a:buChar char="-"/>
            </a:pPr>
            <a:r>
              <a:rPr lang="en-US"/>
              <a:t>one important one is that the aircraft operates within some safe region (in our case, a rectangle)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C4447-276C-C273-EBF7-DD240D70A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4644-A23A-6F45-94E2-29F25BF28D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58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CF5C2-2D16-A1F2-DDE6-16C1CF899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02449-B0FE-969E-F078-38D181AD8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292C4-EA83-E725-CAF6-9C87A4B8B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-First part of the slide ask "Why do we want to represent flight paths this this way”</a:t>
            </a:r>
          </a:p>
          <a:p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we have this description of a trajectory</a:t>
            </a:r>
          </a:p>
          <a:p>
            <a:pPr marL="171450" indent="-171450">
              <a:buFontTx/>
              <a:buChar char="-"/>
            </a:pPr>
            <a:r>
              <a:rPr lang="en-US"/>
              <a:t>now we want to prove properties</a:t>
            </a:r>
          </a:p>
          <a:p>
            <a:pPr marL="171450" indent="-171450">
              <a:buFontTx/>
              <a:buChar char="-"/>
            </a:pPr>
            <a:r>
              <a:rPr lang="en-US"/>
              <a:t>one important one is that the aircraft operates within some safe region (in our case, a rectangle)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15077-B8DC-23C2-0B49-0C9877348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4644-A23A-6F45-94E2-29F25BF28D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89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26835-6C75-3A3A-0270-22D281B0A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1EC6F7-EF7C-1D3F-0F1D-E989F6186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0C22F4-6675-B70F-BB25-02860B286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DC73D-CD85-3084-A821-BC4C3B03C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4644-A23A-6F45-94E2-29F25BF28D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899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is gamma?</a:t>
            </a:r>
          </a:p>
          <a:p>
            <a:r>
              <a:rPr lang="en-US"/>
              <a:t>specify we need to provide the P’ that must be proven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4644-A23A-6F45-94E2-29F25BF28D0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716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FC523-6CA0-3BB8-6CCF-DA02CBCF8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463B7-6248-CB9A-070C-B764553A6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329F3-AF83-8EDF-4895-894A0AAD0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is gamma?</a:t>
            </a:r>
          </a:p>
          <a:p>
            <a:r>
              <a:rPr lang="en-US"/>
              <a:t>specify we need to provide the P’ that must be proven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0E3F1-08A3-CA80-67C2-485DDAEF03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4644-A23A-6F45-94E2-29F25BF28D0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31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4025F-468C-A642-B295-EB904CF06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EA0B4-AD9B-E096-D996-F1A9F3DAE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50262-121A-D710-1F80-A83A24B6B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is gamma?</a:t>
            </a:r>
          </a:p>
          <a:p>
            <a:r>
              <a:rPr lang="en-US"/>
              <a:t>specify we need to provide the P’ that must be proven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3DA23-0473-5F51-57F8-5021E6B9E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4644-A23A-6F45-94E2-29F25BF28D0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325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7262D-A740-6880-DE62-FBDB924C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068B53-EF3C-7475-ADC7-3E3975AA8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029E9-9865-28CB-A0C7-C8B118B1A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is gamma?</a:t>
            </a:r>
          </a:p>
          <a:p>
            <a:r>
              <a:rPr lang="en-US"/>
              <a:t>specify we need to provide the P’ that must be proven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A0079-2DC5-FAA6-B2BC-27D1E8936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4644-A23A-6F45-94E2-29F25BF28D0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74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C1FC-A129-290A-7F91-4181FAE65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19A7F-E27B-E16F-6AC2-AC7B3DC2C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240FF-7573-464D-C4BB-A313CB5C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09A6-92E8-3542-9940-6D71AC074FE9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37357-5F91-FE1A-BFA3-EE1EC3C7B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DA71D-A1E1-6C3F-9C2F-B6E7BED93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63F6-D850-B54C-B4C5-823565E07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7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A9CA-7EC4-128E-C1A7-6E127E46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D2814-6416-0BF1-8C56-435D85344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CE5DB-4C62-4157-DFA6-9603D4B5D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09A6-92E8-3542-9940-6D71AC074FE9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0655-542A-53D9-9A35-CBA45C59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CCFE1-040D-D821-E4CA-0F5AD7D0E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63F6-D850-B54C-B4C5-823565E07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01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58E78-C094-B903-B4C7-8B7D7607E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AA037-327D-8A28-01A4-259406229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9AB3B-0C3A-FBC4-DB4E-1E4E6CD92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09A6-92E8-3542-9940-6D71AC074FE9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007DC-7373-3E5A-7CF5-248F3378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77871-FD9E-6D54-2F09-33A7BE960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63F6-D850-B54C-B4C5-823565E07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40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4CA0-C547-CF40-7861-F39739D4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1BA14-9572-8D51-3CFC-2967244DB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E324C-7E8D-468E-A383-34F8A5557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55041-2180-05AC-92B3-8D603AE55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09A6-92E8-3542-9940-6D71AC074FE9}" type="datetimeFigureOut">
              <a:rPr lang="en-US" smtClean="0"/>
              <a:t>8/8/25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C703A-2D42-0FEE-0369-A53FE6EE1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40296-5C8F-D82B-9DD3-5B62FC102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63F6-D850-B54C-B4C5-823565E07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97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258C5-412E-7320-1B71-F0749909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DF6D3-022B-8B57-D01D-1C51901D3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5AEAA7-1F17-A2F7-5416-42E2F0155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DC9A5-E683-3D5F-016F-512A13643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1536A-CC75-C14C-CFBE-3B054227BA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5F4164-7A05-B14C-2029-0FFC44371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09A6-92E8-3542-9940-6D71AC074FE9}" type="datetimeFigureOut">
              <a:rPr lang="en-US" smtClean="0"/>
              <a:t>8/8/25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4C0DDC-043A-1A5A-4B92-D5F62A7F9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BBD139-6F90-8BD7-31AA-2B94FA0B9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63F6-D850-B54C-B4C5-823565E07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96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0AB37-9A89-B8C4-68C1-F98650F1D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B842FC-F3A1-4079-9B51-8D7CC9F2C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09A6-92E8-3542-9940-6D71AC074FE9}" type="datetimeFigureOut">
              <a:rPr lang="en-US" smtClean="0"/>
              <a:t>8/8/25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DDC89B-E227-D013-2323-93B948D75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792A9-7266-7389-7337-60D5D17C1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63F6-D850-B54C-B4C5-823565E07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9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2E539C-C4FD-3A10-56BF-3961C747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09A6-92E8-3542-9940-6D71AC074FE9}" type="datetimeFigureOut">
              <a:rPr lang="en-US" smtClean="0"/>
              <a:t>8/8/25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0171B-565A-14BE-CD5F-C03A75D2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454F5-C427-7B6A-9998-E5BFE97D9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63F6-D850-B54C-B4C5-823565E07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7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8B30E-3D67-67B3-2A45-F5813A86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4E52B-646D-1A2F-6F9A-B4D500E07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66B6E-4FDB-2143-9156-9FCC0F52B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0B971-1493-08CC-4911-10021F50C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09A6-92E8-3542-9940-6D71AC074FE9}" type="datetimeFigureOut">
              <a:rPr lang="en-US" smtClean="0"/>
              <a:t>8/8/25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A9129-E780-E618-5EAA-BB01CEDD2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7936B-0504-AA26-D7FC-6109751F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63F6-D850-B54C-B4C5-823565E07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83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877B0-7F13-B2EC-74B1-8C3F0F1BB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14C5AA-87CA-507E-1572-ACF3070322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0370C-3F7D-4934-FAA5-B4DBF606F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F15A8-1B6B-73B1-0BD0-04EAEF35D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09A6-92E8-3542-9940-6D71AC074FE9}" type="datetimeFigureOut">
              <a:rPr lang="en-US" smtClean="0"/>
              <a:t>8/8/25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0CF8A-5588-26C0-1B2D-B527197FA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21ABE-05BB-34F5-805D-193CD27A5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63F6-D850-B54C-B4C5-823565E07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959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BA10A-3B92-D68C-6D6E-6205F8266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BEC63C-0A38-AE7A-6216-5B52DF039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3161C-A527-CA17-91D9-487E0BF0B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09A6-92E8-3542-9940-6D71AC074FE9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BD2B7-FE35-96AA-F550-2AEC0DA60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F2010-8732-ACC7-B6AD-8EF09085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63F6-D850-B54C-B4C5-823565E07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94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BF0ECD-1446-3391-BE5F-2B6B913712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73916-30F2-75B2-2548-1871BD27E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0057C-EC6B-2BA1-2265-3F4382B0E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09A6-92E8-3542-9940-6D71AC074FE9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8466C-105C-80BF-6E88-D943B2D2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4C2FB-A2E8-4DB5-9171-5327BEA6C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63F6-D850-B54C-B4C5-823565E07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82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E41B40-6F9F-90EE-182F-6D50C14B0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AED4F-F85D-EFDE-FE32-A77C4923C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F9F87-9642-C218-4A83-AE064D249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D09A6-92E8-3542-9940-6D71AC074FE9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3FA3B-180A-C11A-6558-172DC3D4F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7AF4B-F97E-2766-E8D7-2F1EBFD33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363F6-D850-B54C-B4C5-823565E07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32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ncrespo@ucla.edu" TargetMode="External"/><Relationship Id="rId4" Type="http://schemas.openxmlformats.org/officeDocument/2006/relationships/hyperlink" Target="mailto:bernny.velasquez@vikings.berry.edu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hemesh.larc.nasa.gov/fm/DANTi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shemesh.larc.nasa.gov/fm/Plaidypvs/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4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hemesh.larc.nasa.gov/fm/Plaidypvs/" TargetMode="Externa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99B830-70FE-1D84-50FF-F26E3475661A}"/>
              </a:ext>
            </a:extLst>
          </p:cNvPr>
          <p:cNvCxnSpPr>
            <a:cxnSpLocks/>
          </p:cNvCxnSpPr>
          <p:nvPr/>
        </p:nvCxnSpPr>
        <p:spPr>
          <a:xfrm>
            <a:off x="515007" y="430924"/>
            <a:ext cx="11183007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186B2A-A23E-83C0-0050-E347308C2E3A}"/>
              </a:ext>
            </a:extLst>
          </p:cNvPr>
          <p:cNvCxnSpPr>
            <a:cxnSpLocks/>
          </p:cNvCxnSpPr>
          <p:nvPr/>
        </p:nvCxnSpPr>
        <p:spPr>
          <a:xfrm>
            <a:off x="504496" y="1760483"/>
            <a:ext cx="11183007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C8F468D-851B-7D79-D2EE-2F8E65392079}"/>
              </a:ext>
            </a:extLst>
          </p:cNvPr>
          <p:cNvSpPr txBox="1"/>
          <p:nvPr/>
        </p:nvSpPr>
        <p:spPr>
          <a:xfrm>
            <a:off x="515007" y="430924"/>
            <a:ext cx="111724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accent1">
                    <a:lumMod val="75000"/>
                  </a:schemeClr>
                </a:solidFill>
                <a:effectLst/>
                <a:latin typeface="Helvetica" pitchFamily="2" charset="0"/>
              </a:rPr>
              <a:t>Repr</a:t>
            </a:r>
            <a:r>
              <a:rPr lang="en-US" sz="4000" b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esenting and Formally Verifying Flight Trajectories as Hybrid Programs</a:t>
            </a:r>
            <a:endParaRPr lang="en-US" sz="4000" b="1">
              <a:solidFill>
                <a:schemeClr val="accent1">
                  <a:lumMod val="75000"/>
                </a:schemeClr>
              </a:solidFill>
              <a:effectLst/>
              <a:latin typeface="Helvetica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A2627B-CAAE-840C-D33C-0EB25648A6D8}"/>
              </a:ext>
            </a:extLst>
          </p:cNvPr>
          <p:cNvSpPr txBox="1"/>
          <p:nvPr/>
        </p:nvSpPr>
        <p:spPr>
          <a:xfrm>
            <a:off x="4050448" y="2616334"/>
            <a:ext cx="7749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/>
              <a:t>Bernny Velasquez, Nicolas Crespo</a:t>
            </a:r>
            <a:endParaRPr lang="en-US" sz="2800">
              <a:effectLst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6E74C3-A8DD-B3FB-EB31-10FB2198CE37}"/>
              </a:ext>
            </a:extLst>
          </p:cNvPr>
          <p:cNvSpPr txBox="1"/>
          <p:nvPr/>
        </p:nvSpPr>
        <p:spPr>
          <a:xfrm>
            <a:off x="8256402" y="3939772"/>
            <a:ext cx="3441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NASA Langley Research Center</a:t>
            </a:r>
          </a:p>
          <a:p>
            <a:pPr algn="r"/>
            <a:r>
              <a:rPr lang="en-US" sz="2000"/>
              <a:t>	Hampton, VA, USA</a:t>
            </a:r>
          </a:p>
        </p:txBody>
      </p:sp>
      <p:pic>
        <p:nvPicPr>
          <p:cNvPr id="26" name="Picture 25" descr="Logo&#10;&#10;Description automatically generated">
            <a:extLst>
              <a:ext uri="{FF2B5EF4-FFF2-40B4-BE49-F238E27FC236}">
                <a16:creationId xmlns:a16="http://schemas.microsoft.com/office/drawing/2014/main" id="{DE573BD6-C107-7146-74D9-19AEE5A07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25" y="5049982"/>
            <a:ext cx="1967057" cy="16279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5969E7-2FF1-A56C-A974-FA1922DBC976}"/>
              </a:ext>
            </a:extLst>
          </p:cNvPr>
          <p:cNvSpPr txBox="1"/>
          <p:nvPr/>
        </p:nvSpPr>
        <p:spPr>
          <a:xfrm>
            <a:off x="7726605" y="3462719"/>
            <a:ext cx="40471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Mentors: Lauren White, Cesar Munoz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C1CF3A-AC32-8788-080A-09F603118F52}"/>
              </a:ext>
            </a:extLst>
          </p:cNvPr>
          <p:cNvSpPr txBox="1"/>
          <p:nvPr/>
        </p:nvSpPr>
        <p:spPr>
          <a:xfrm>
            <a:off x="7520878" y="3139554"/>
            <a:ext cx="4252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hlinkClick r:id="rId4"/>
              </a:rPr>
              <a:t>bernny.velasquez@vikings.berry.edu</a:t>
            </a:r>
            <a:r>
              <a:rPr lang="en-US" sz="1400"/>
              <a:t>  </a:t>
            </a:r>
            <a:r>
              <a:rPr lang="en-US" sz="1400">
                <a:hlinkClick r:id="rId5"/>
              </a:rPr>
              <a:t>ncrespo@ucla.edu</a:t>
            </a:r>
            <a:r>
              <a:rPr lang="en-US" sz="1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704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72187-2917-0085-DF2C-72353304D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802F2-5784-9181-965A-B0CA9C217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Detect and Avoid (DAA)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B5BEE1-FCFC-626C-26CB-4F6C749606BE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EB1D38-95A9-0D93-A45F-A24962FC4979}"/>
              </a:ext>
            </a:extLst>
          </p:cNvPr>
          <p:cNvCxnSpPr>
            <a:cxnSpLocks/>
          </p:cNvCxnSpPr>
          <p:nvPr/>
        </p:nvCxnSpPr>
        <p:spPr>
          <a:xfrm>
            <a:off x="256414" y="6351539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6045B43-E57F-DAAC-6EA1-59C54ABC926B}"/>
              </a:ext>
            </a:extLst>
          </p:cNvPr>
          <p:cNvSpPr txBox="1"/>
          <p:nvPr/>
        </p:nvSpPr>
        <p:spPr>
          <a:xfrm>
            <a:off x="5259647" y="1419732"/>
            <a:ext cx="652087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See and Avoid </a:t>
            </a:r>
            <a:r>
              <a:rPr lang="en-US"/>
              <a:t>is a legal requirement for human pilots to </a:t>
            </a:r>
            <a:r>
              <a:rPr lang="en-US" i="1"/>
              <a:t>see</a:t>
            </a:r>
            <a:r>
              <a:rPr lang="en-US"/>
              <a:t> and </a:t>
            </a:r>
            <a:r>
              <a:rPr lang="en-US" i="1"/>
              <a:t>avoid </a:t>
            </a:r>
            <a:r>
              <a:rPr lang="en-US"/>
              <a:t>other aircraft while flying under some operational conditions.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FAA recently created a similar requirement for autonomous/unmanned aircraft called </a:t>
            </a:r>
            <a:r>
              <a:rPr lang="en-US" b="1"/>
              <a:t>Detect and Avoid </a:t>
            </a:r>
            <a:r>
              <a:rPr lang="en-US"/>
              <a:t>(DAA).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NASA </a:t>
            </a:r>
            <a:r>
              <a:rPr lang="en-US" err="1"/>
              <a:t>LaRC</a:t>
            </a:r>
            <a:r>
              <a:rPr lang="en-US"/>
              <a:t> has developed several DAA technology, e.g., DANti to ensure UAS satisfy certain safety properties.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 would like to describe the motion of and reason about aircraft flights, but historical data needed for testing is lacking. 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So, how can we generate aircraft encounters for testing DAA technology?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A0F335-2EF1-5553-FA62-80597A9845F3}"/>
              </a:ext>
            </a:extLst>
          </p:cNvPr>
          <p:cNvSpPr txBox="1"/>
          <p:nvPr/>
        </p:nvSpPr>
        <p:spPr>
          <a:xfrm>
            <a:off x="169373" y="6351539"/>
            <a:ext cx="7590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[1]: NASA Langley Formal Methods Program DANTi </a:t>
            </a:r>
            <a:r>
              <a:rPr lang="en-US" sz="1400">
                <a:hlinkClick r:id="rId3"/>
              </a:rPr>
              <a:t>https://shemesh.larc.nasa.gov/fm/DANTi/</a:t>
            </a:r>
            <a:r>
              <a:rPr lang="en-US" sz="1400"/>
              <a:t>  </a:t>
            </a:r>
            <a:endParaRPr lang="en-US" sz="1400">
              <a:solidFill>
                <a:schemeClr val="accent5"/>
              </a:solidFill>
            </a:endParaRPr>
          </a:p>
        </p:txBody>
      </p:sp>
      <p:pic>
        <p:nvPicPr>
          <p:cNvPr id="1028" name="Picture 4" descr="DANTi handout (front)">
            <a:extLst>
              <a:ext uri="{FF2B5EF4-FFF2-40B4-BE49-F238E27FC236}">
                <a16:creationId xmlns:a16="http://schemas.microsoft.com/office/drawing/2014/main" id="{217E034D-A772-1194-B3D8-C6769D5B3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14" y="1615827"/>
            <a:ext cx="4689908" cy="3626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993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8F8CF-AEA5-3176-705F-41935C135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115CE-F1ED-C838-F60A-794E461D5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How we apply formal methods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C3DB8B-77C2-AC31-23D6-3EE294DCCC43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B5F4FF-94EA-3334-BF65-8FDFFF10F102}"/>
              </a:ext>
            </a:extLst>
          </p:cNvPr>
          <p:cNvCxnSpPr>
            <a:cxnSpLocks/>
          </p:cNvCxnSpPr>
          <p:nvPr/>
        </p:nvCxnSpPr>
        <p:spPr>
          <a:xfrm>
            <a:off x="256414" y="6351539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5FB6F39-3326-959B-CCF9-7C5B8A6823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5260942"/>
              </p:ext>
            </p:extLst>
          </p:nvPr>
        </p:nvGraphicFramePr>
        <p:xfrm>
          <a:off x="0" y="1246986"/>
          <a:ext cx="5696385" cy="4962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6A6099C-5822-E915-535C-0E13A4F35E0F}"/>
              </a:ext>
            </a:extLst>
          </p:cNvPr>
          <p:cNvSpPr txBox="1"/>
          <p:nvPr/>
        </p:nvSpPr>
        <p:spPr>
          <a:xfrm>
            <a:off x="5388242" y="1105336"/>
            <a:ext cx="68037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</a:rPr>
              <a:t>PVS: </a:t>
            </a:r>
            <a:r>
              <a:rPr lang="en-US" sz="2400">
                <a:highlight>
                  <a:srgbClr val="FFFFFF"/>
                </a:highlight>
              </a:rPr>
              <a:t>General Purpose Theorem Prover</a:t>
            </a:r>
          </a:p>
          <a:p>
            <a:br>
              <a:rPr lang="en-US" sz="2400">
                <a:highlight>
                  <a:srgbClr val="FFFFFF"/>
                </a:highlight>
              </a:rPr>
            </a:br>
            <a:r>
              <a:rPr lang="en-US" sz="2400" b="1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</a:rPr>
              <a:t>Plaidypvs: </a:t>
            </a:r>
            <a:r>
              <a:rPr lang="en-US" sz="2400">
                <a:highlight>
                  <a:srgbClr val="FFFFFF"/>
                </a:highlight>
              </a:rPr>
              <a:t>Differential Logic (dL) in PVS</a:t>
            </a:r>
          </a:p>
          <a:p>
            <a:endParaRPr lang="en-US" sz="2400">
              <a:highlight>
                <a:srgbClr val="FFFFFF"/>
              </a:highlight>
            </a:endParaRPr>
          </a:p>
          <a:p>
            <a:r>
              <a:rPr lang="en-US" sz="2400" b="1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</a:rPr>
              <a:t>Hybrid Programs: </a:t>
            </a:r>
            <a:r>
              <a:rPr lang="en-US" sz="2400">
                <a:highlight>
                  <a:srgbClr val="FFFFFF"/>
                </a:highlight>
              </a:rPr>
              <a:t>Discrete + Continuous Assignments</a:t>
            </a:r>
          </a:p>
          <a:p>
            <a:r>
              <a:rPr lang="en-US" sz="2400">
                <a:highlight>
                  <a:srgbClr val="FFFFFF"/>
                </a:highlight>
              </a:rPr>
              <a:t>  </a:t>
            </a:r>
            <a:br>
              <a:rPr lang="en-US" sz="2400">
                <a:highlight>
                  <a:srgbClr val="FFFFFF"/>
                </a:highlight>
              </a:rPr>
            </a:br>
            <a:r>
              <a:rPr lang="en-US" sz="2400" b="1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</a:rPr>
              <a:t>Flight Programs: </a:t>
            </a:r>
            <a:r>
              <a:rPr lang="en-US" sz="2400">
                <a:highlight>
                  <a:srgbClr val="FFFFFF"/>
                </a:highlight>
              </a:rPr>
              <a:t>A </a:t>
            </a:r>
            <a:r>
              <a:rPr lang="en-US" sz="2400" i="1">
                <a:highlight>
                  <a:srgbClr val="FFFFFF"/>
                </a:highlight>
              </a:rPr>
              <a:t>flyable</a:t>
            </a:r>
            <a:r>
              <a:rPr lang="en-US" sz="2400">
                <a:highlight>
                  <a:srgbClr val="FFFFFF"/>
                </a:highlight>
              </a:rPr>
              <a:t> Hybrid Program</a:t>
            </a:r>
            <a:br>
              <a:rPr lang="en-US" sz="2400">
                <a:highlight>
                  <a:srgbClr val="FFFFFF"/>
                </a:highlight>
              </a:rPr>
            </a:br>
            <a:endParaRPr lang="en-US" sz="2400" b="1">
              <a:solidFill>
                <a:schemeClr val="accent1">
                  <a:lumMod val="75000"/>
                </a:schemeClr>
              </a:solidFill>
              <a:highlight>
                <a:srgbClr val="FFFFFF"/>
              </a:highlight>
            </a:endParaRPr>
          </a:p>
          <a:p>
            <a:endParaRPr lang="en-US" sz="2400" b="1" i="0" u="none" strike="noStrike">
              <a:solidFill>
                <a:schemeClr val="accent1">
                  <a:lumMod val="75000"/>
                </a:schemeClr>
              </a:solidFill>
              <a:effectLst/>
              <a:highlight>
                <a:srgbClr val="FFFFFF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5E724-606A-C996-8AE5-C0A2487650C3}"/>
              </a:ext>
            </a:extLst>
          </p:cNvPr>
          <p:cNvSpPr txBox="1"/>
          <p:nvPr/>
        </p:nvSpPr>
        <p:spPr>
          <a:xfrm>
            <a:off x="256414" y="6363325"/>
            <a:ext cx="11244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[2]: </a:t>
            </a:r>
            <a:r>
              <a:rPr lang="en-US" sz="1200" b="1"/>
              <a:t>P</a:t>
            </a:r>
            <a:r>
              <a:rPr lang="en-US" sz="1200"/>
              <a:t>roper</a:t>
            </a:r>
            <a:r>
              <a:rPr lang="en-US" sz="1200" b="1"/>
              <a:t>l</a:t>
            </a:r>
            <a:r>
              <a:rPr lang="en-US" sz="1200"/>
              <a:t>y </a:t>
            </a:r>
            <a:r>
              <a:rPr lang="en-US" sz="1200" b="1"/>
              <a:t>A</a:t>
            </a:r>
            <a:r>
              <a:rPr lang="en-US" sz="1200"/>
              <a:t>ssured </a:t>
            </a:r>
            <a:r>
              <a:rPr lang="en-US" sz="1200" b="1"/>
              <a:t>I</a:t>
            </a:r>
            <a:r>
              <a:rPr lang="en-US" sz="1200"/>
              <a:t>mplementation of </a:t>
            </a:r>
            <a:r>
              <a:rPr lang="en-US" sz="1200" b="1"/>
              <a:t>D</a:t>
            </a:r>
            <a:r>
              <a:rPr lang="en-US" sz="1200"/>
              <a:t>ifferential Dynamic Logic for H</a:t>
            </a:r>
            <a:r>
              <a:rPr lang="en-US" sz="1200" b="1"/>
              <a:t>y</a:t>
            </a:r>
            <a:r>
              <a:rPr lang="en-US" sz="1200"/>
              <a:t>brid </a:t>
            </a:r>
            <a:r>
              <a:rPr lang="en-US" sz="1200" b="1"/>
              <a:t>P</a:t>
            </a:r>
            <a:r>
              <a:rPr lang="en-US" sz="1200"/>
              <a:t>rogram </a:t>
            </a:r>
            <a:r>
              <a:rPr lang="en-US" sz="1200" b="1"/>
              <a:t>V</a:t>
            </a:r>
            <a:r>
              <a:rPr lang="en-US" sz="1200"/>
              <a:t>erification and </a:t>
            </a:r>
            <a:r>
              <a:rPr lang="en-US" sz="1200" b="1"/>
              <a:t>S</a:t>
            </a:r>
            <a:r>
              <a:rPr lang="en-US" sz="1200"/>
              <a:t>pecification (too large to fit in graphic) </a:t>
            </a:r>
            <a:r>
              <a:rPr lang="en-US" sz="1200" u="sng">
                <a:hlinkClick r:id="rId8"/>
              </a:rPr>
              <a:t>https://shemesh.larc.nasa.gov/fm/Plaidypvs/</a:t>
            </a:r>
            <a:endParaRPr lang="en-US" sz="1200"/>
          </a:p>
          <a:p>
            <a:endParaRPr lang="en-US" sz="12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A55399-84C2-050B-259B-3C99F341B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242" y="3863231"/>
            <a:ext cx="3105630" cy="1987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picture containing text, book&#10;&#10;AI-generated content may be incorrect.">
            <a:extLst>
              <a:ext uri="{FF2B5EF4-FFF2-40B4-BE49-F238E27FC236}">
                <a16:creationId xmlns:a16="http://schemas.microsoft.com/office/drawing/2014/main" id="{8AC4E727-6B1D-C040-947D-59F5FDE935D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1357" t="16060" r="18418" b="54979"/>
          <a:stretch>
            <a:fillRect/>
          </a:stretch>
        </p:blipFill>
        <p:spPr>
          <a:xfrm>
            <a:off x="8777207" y="4089897"/>
            <a:ext cx="2723677" cy="174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770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162BE-B956-EFF3-AEF4-33C6B4CE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5942-FA6D-EAAB-81CB-B66669962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Building Blocks of a Flight Program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F6C24B-0D06-5540-C877-69DEAE61C866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218DD7-215A-0D8F-87A1-675F1C3217F2}"/>
              </a:ext>
            </a:extLst>
          </p:cNvPr>
          <p:cNvCxnSpPr>
            <a:cxnSpLocks/>
          </p:cNvCxnSpPr>
          <p:nvPr/>
        </p:nvCxnSpPr>
        <p:spPr>
          <a:xfrm>
            <a:off x="256414" y="6351539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4652D561-27F0-671C-0ECC-904276B6484E}"/>
              </a:ext>
            </a:extLst>
          </p:cNvPr>
          <p:cNvGrpSpPr/>
          <p:nvPr/>
        </p:nvGrpSpPr>
        <p:grpSpPr>
          <a:xfrm>
            <a:off x="1220124" y="1263549"/>
            <a:ext cx="9751752" cy="6353757"/>
            <a:chOff x="847074" y="221935"/>
            <a:chExt cx="9751752" cy="635375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8FBB4BA-9BD5-7BEC-B092-8840E8F6A3F4}"/>
                </a:ext>
              </a:extLst>
            </p:cNvPr>
            <p:cNvGrpSpPr/>
            <p:nvPr/>
          </p:nvGrpSpPr>
          <p:grpSpPr>
            <a:xfrm>
              <a:off x="847074" y="888315"/>
              <a:ext cx="9749027" cy="3465048"/>
              <a:chOff x="847074" y="888315"/>
              <a:chExt cx="9749027" cy="3465048"/>
            </a:xfrm>
          </p:grpSpPr>
          <p:pic>
            <p:nvPicPr>
              <p:cNvPr id="27" name="Picture 26" descr="A white grid with black arrows and a black drone&#10;&#10;Description automatically generated with medium confidence">
                <a:extLst>
                  <a:ext uri="{FF2B5EF4-FFF2-40B4-BE49-F238E27FC236}">
                    <a16:creationId xmlns:a16="http://schemas.microsoft.com/office/drawing/2014/main" id="{1112A31A-A4B8-3DFE-8973-EBD3147081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9393" t="42206" r="72592" b="44280"/>
              <a:stretch>
                <a:fillRect/>
              </a:stretch>
            </p:blipFill>
            <p:spPr>
              <a:xfrm>
                <a:off x="8275397" y="1535653"/>
                <a:ext cx="612648" cy="621791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2E0384A-D9F8-92CE-3568-168749796602}"/>
                  </a:ext>
                </a:extLst>
              </p:cNvPr>
              <p:cNvSpPr txBox="1"/>
              <p:nvPr/>
            </p:nvSpPr>
            <p:spPr>
              <a:xfrm>
                <a:off x="7841984" y="888315"/>
                <a:ext cx="16145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2. </a:t>
                </a:r>
                <a:r>
                  <a:rPr lang="en-US" b="1"/>
                  <a:t>Linear</a:t>
                </a:r>
                <a:r>
                  <a:rPr lang="en-US"/>
                  <a:t> (time)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D730E25-C754-707F-56B3-7F3C528EC134}"/>
                  </a:ext>
                </a:extLst>
              </p:cNvPr>
              <p:cNvSpPr txBox="1"/>
              <p:nvPr/>
            </p:nvSpPr>
            <p:spPr>
              <a:xfrm>
                <a:off x="892528" y="2519997"/>
                <a:ext cx="41354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3. </a:t>
                </a:r>
                <a:r>
                  <a:rPr lang="en-US" b="1"/>
                  <a:t>Acceleration</a:t>
                </a:r>
                <a:r>
                  <a:rPr lang="en-US"/>
                  <a:t> (rate of acceleration, time)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710389F-D974-5937-FEB4-2599733AB6C5}"/>
                  </a:ext>
                </a:extLst>
              </p:cNvPr>
              <p:cNvSpPr txBox="1"/>
              <p:nvPr/>
            </p:nvSpPr>
            <p:spPr>
              <a:xfrm>
                <a:off x="7841984" y="2434790"/>
                <a:ext cx="23955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4. </a:t>
                </a:r>
                <a:r>
                  <a:rPr lang="en-US" b="1"/>
                  <a:t>Turn</a:t>
                </a:r>
                <a:r>
                  <a:rPr lang="en-US"/>
                  <a:t> (turn rate, time)</a:t>
                </a: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9BA81F77-64B4-60BB-6346-9A986DDB64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51336" y="1846548"/>
                <a:ext cx="1644765" cy="0"/>
              </a:xfrm>
              <a:prstGeom prst="straightConnector1">
                <a:avLst/>
              </a:prstGeom>
              <a:ln w="53975"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7E2FF47E-0B0D-EC27-730E-4588B55DB948}"/>
                  </a:ext>
                </a:extLst>
              </p:cNvPr>
              <p:cNvGrpSpPr/>
              <p:nvPr/>
            </p:nvGrpSpPr>
            <p:grpSpPr>
              <a:xfrm>
                <a:off x="1993331" y="3026985"/>
                <a:ext cx="2523012" cy="621791"/>
                <a:chOff x="3097651" y="1220644"/>
                <a:chExt cx="2523012" cy="621791"/>
              </a:xfrm>
            </p:grpSpPr>
            <p:pic>
              <p:nvPicPr>
                <p:cNvPr id="37" name="Picture 36" descr="A white grid with black arrows and a black dron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2B6F0A9C-C6F9-FBFE-7581-D079F91366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19393" t="42206" r="72592" b="44280"/>
                <a:stretch>
                  <a:fillRect/>
                </a:stretch>
              </p:blipFill>
              <p:spPr>
                <a:xfrm>
                  <a:off x="3097651" y="1220644"/>
                  <a:ext cx="612648" cy="621791"/>
                </a:xfrm>
                <a:prstGeom prst="rect">
                  <a:avLst/>
                </a:prstGeom>
              </p:spPr>
            </p:pic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58EBA4C8-4456-8705-995C-913A4854C8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20620" y="1519364"/>
                  <a:ext cx="378377" cy="5419"/>
                </a:xfrm>
                <a:prstGeom prst="straightConnector1">
                  <a:avLst/>
                </a:prstGeom>
                <a:ln w="53975">
                  <a:prstDash val="das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4FB21BD5-D82C-46D1-1ED2-D9BBD7EA7E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8997" y="1521979"/>
                  <a:ext cx="585728" cy="0"/>
                </a:xfrm>
                <a:prstGeom prst="line">
                  <a:avLst/>
                </a:prstGeom>
                <a:ln w="53975"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41B8476-30B2-A041-6F04-95292DAD00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02656" y="1520453"/>
                  <a:ext cx="818007" cy="1113"/>
                </a:xfrm>
                <a:prstGeom prst="line">
                  <a:avLst/>
                </a:prstGeom>
                <a:ln w="53975"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507091B-A78C-6C5F-C45C-A817E66AD776}"/>
                  </a:ext>
                </a:extLst>
              </p:cNvPr>
              <p:cNvSpPr txBox="1"/>
              <p:nvPr/>
            </p:nvSpPr>
            <p:spPr>
              <a:xfrm>
                <a:off x="847074" y="97019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1. </a:t>
                </a:r>
                <a:r>
                  <a:rPr lang="en-US" b="1"/>
                  <a:t>Initialization</a:t>
                </a:r>
                <a:r>
                  <a:rPr lang="en-US"/>
                  <a:t> (x position, y position, ground speed, track)</a:t>
                </a:r>
              </a:p>
            </p:txBody>
          </p:sp>
          <p:pic>
            <p:nvPicPr>
              <p:cNvPr id="34" name="Picture 33" descr="A white grid with black arrows and a black drone&#10;&#10;Description automatically generated with medium confidence">
                <a:extLst>
                  <a:ext uri="{FF2B5EF4-FFF2-40B4-BE49-F238E27FC236}">
                    <a16:creationId xmlns:a16="http://schemas.microsoft.com/office/drawing/2014/main" id="{8E7FA831-38F4-6A96-8730-FCCC9F25D6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9393" t="42206" r="72592" b="44280"/>
              <a:stretch>
                <a:fillRect/>
              </a:stretch>
            </p:blipFill>
            <p:spPr>
              <a:xfrm>
                <a:off x="1993331" y="1516828"/>
                <a:ext cx="612648" cy="621791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E2F0DDA5-32EC-A5E4-3233-1CF545E7CBC8}"/>
                      </a:ext>
                    </a:extLst>
                  </p:cNvPr>
                  <p:cNvSpPr txBox="1"/>
                  <p:nvPr/>
                </p:nvSpPr>
                <p:spPr>
                  <a:xfrm>
                    <a:off x="9167594" y="3707032"/>
                    <a:ext cx="611193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E2F0DDA5-32EC-A5E4-3233-1CF545E7CB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67594" y="3707032"/>
                    <a:ext cx="611193" cy="64633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C38D8E38-7694-C864-0129-C9918C048D10}"/>
                      </a:ext>
                    </a:extLst>
                  </p:cNvPr>
                  <p:cNvSpPr txBox="1"/>
                  <p:nvPr/>
                </p:nvSpPr>
                <p:spPr>
                  <a:xfrm>
                    <a:off x="9147089" y="2859464"/>
                    <a:ext cx="58246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C38D8E38-7694-C864-0129-C9918C048D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7089" y="2859464"/>
                    <a:ext cx="582467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97A850B-7DF2-0D2E-9009-C81A1F0C8348}"/>
                </a:ext>
              </a:extLst>
            </p:cNvPr>
            <p:cNvGrpSpPr/>
            <p:nvPr/>
          </p:nvGrpSpPr>
          <p:grpSpPr>
            <a:xfrm flipV="1">
              <a:off x="7470832" y="221935"/>
              <a:ext cx="3082878" cy="3585952"/>
              <a:chOff x="-7011" y="4169463"/>
              <a:chExt cx="3099216" cy="3463796"/>
            </a:xfrm>
          </p:grpSpPr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5F64C4F5-5F93-13D6-3395-112562B7000C}"/>
                  </a:ext>
                </a:extLst>
              </p:cNvPr>
              <p:cNvSpPr/>
              <p:nvPr/>
            </p:nvSpPr>
            <p:spPr>
              <a:xfrm>
                <a:off x="5835" y="4550381"/>
                <a:ext cx="3082878" cy="3082878"/>
              </a:xfrm>
              <a:prstGeom prst="arc">
                <a:avLst>
                  <a:gd name="adj1" fmla="val 16200000"/>
                  <a:gd name="adj2" fmla="val 19263344"/>
                </a:avLst>
              </a:prstGeom>
              <a:ln w="539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7952DC4-DFDA-F674-408A-05DCF2FB583B}"/>
                  </a:ext>
                </a:extLst>
              </p:cNvPr>
              <p:cNvGrpSpPr/>
              <p:nvPr/>
            </p:nvGrpSpPr>
            <p:grpSpPr>
              <a:xfrm>
                <a:off x="-7011" y="4169463"/>
                <a:ext cx="3099216" cy="3463796"/>
                <a:chOff x="-7011" y="4169463"/>
                <a:chExt cx="3099216" cy="3463796"/>
              </a:xfrm>
            </p:grpSpPr>
            <p:sp>
              <p:nvSpPr>
                <p:cNvPr id="21" name="Arc 20">
                  <a:extLst>
                    <a:ext uri="{FF2B5EF4-FFF2-40B4-BE49-F238E27FC236}">
                      <a16:creationId xmlns:a16="http://schemas.microsoft.com/office/drawing/2014/main" id="{CD883986-2AB7-74D3-74DB-FAB5001895A6}"/>
                    </a:ext>
                  </a:extLst>
                </p:cNvPr>
                <p:cNvSpPr/>
                <p:nvPr/>
              </p:nvSpPr>
              <p:spPr>
                <a:xfrm flipH="1">
                  <a:off x="-7011" y="4544747"/>
                  <a:ext cx="3082878" cy="3082878"/>
                </a:xfrm>
                <a:prstGeom prst="arc">
                  <a:avLst>
                    <a:gd name="adj1" fmla="val 16200000"/>
                    <a:gd name="adj2" fmla="val 16239336"/>
                  </a:avLst>
                </a:prstGeom>
                <a:ln w="19050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9A7ADD4F-023D-E5C8-3CD6-BEB4CDC582DA}"/>
                    </a:ext>
                  </a:extLst>
                </p:cNvPr>
                <p:cNvGrpSpPr/>
                <p:nvPr/>
              </p:nvGrpSpPr>
              <p:grpSpPr>
                <a:xfrm>
                  <a:off x="9327" y="4169463"/>
                  <a:ext cx="3082878" cy="3463796"/>
                  <a:chOff x="9327" y="4169463"/>
                  <a:chExt cx="3082878" cy="3463796"/>
                </a:xfrm>
              </p:grpSpPr>
              <p:sp>
                <p:nvSpPr>
                  <p:cNvPr id="23" name="Arc 22">
                    <a:extLst>
                      <a:ext uri="{FF2B5EF4-FFF2-40B4-BE49-F238E27FC236}">
                        <a16:creationId xmlns:a16="http://schemas.microsoft.com/office/drawing/2014/main" id="{70461958-003A-E4A0-02C7-6E57C97F61E4}"/>
                      </a:ext>
                    </a:extLst>
                  </p:cNvPr>
                  <p:cNvSpPr/>
                  <p:nvPr/>
                </p:nvSpPr>
                <p:spPr>
                  <a:xfrm>
                    <a:off x="9327" y="4550381"/>
                    <a:ext cx="3082878" cy="3082878"/>
                  </a:xfrm>
                  <a:prstGeom prst="arc">
                    <a:avLst>
                      <a:gd name="adj1" fmla="val 16200000"/>
                      <a:gd name="adj2" fmla="val 18555141"/>
                    </a:avLst>
                  </a:prstGeom>
                  <a:ln w="19050">
                    <a:solidFill>
                      <a:schemeClr val="tx1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F589F7DE-A51B-4610-7D51-8384BF513C8E}"/>
                      </a:ext>
                    </a:extLst>
                  </p:cNvPr>
                  <p:cNvGrpSpPr/>
                  <p:nvPr/>
                </p:nvGrpSpPr>
                <p:grpSpPr>
                  <a:xfrm>
                    <a:off x="845145" y="4169463"/>
                    <a:ext cx="702129" cy="621791"/>
                    <a:chOff x="845145" y="4169463"/>
                    <a:chExt cx="702129" cy="621791"/>
                  </a:xfrm>
                </p:grpSpPr>
                <p:pic>
                  <p:nvPicPr>
                    <p:cNvPr id="25" name="Picture 24" descr="A white grid with black arrows and a black drone&#10;&#10;Description automatically generated with medium confidence">
                      <a:extLst>
                        <a:ext uri="{FF2B5EF4-FFF2-40B4-BE49-F238E27FC236}">
                          <a16:creationId xmlns:a16="http://schemas.microsoft.com/office/drawing/2014/main" id="{D23BF0F2-C35B-D09E-9FFD-EBF8A1CD0E7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rcRect l="19393" t="42206" r="72592" b="44280"/>
                    <a:stretch>
                      <a:fillRect/>
                    </a:stretch>
                  </p:blipFill>
                  <p:spPr>
                    <a:xfrm>
                      <a:off x="845145" y="4169463"/>
                      <a:ext cx="612648" cy="62179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99622BD0-722F-FE7A-6E6E-B6F3BDF394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4979" y="4441371"/>
                      <a:ext cx="82295" cy="25438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EAB2DD8B-A3F6-74DA-01AC-4BB4BC0E5604}"/>
                </a:ext>
              </a:extLst>
            </p:cNvPr>
            <p:cNvSpPr/>
            <p:nvPr/>
          </p:nvSpPr>
          <p:spPr>
            <a:xfrm>
              <a:off x="7515948" y="3492814"/>
              <a:ext cx="3082878" cy="3082878"/>
            </a:xfrm>
            <a:prstGeom prst="arc">
              <a:avLst>
                <a:gd name="adj1" fmla="val 16109970"/>
                <a:gd name="adj2" fmla="val 19149511"/>
              </a:avLst>
            </a:prstGeom>
            <a:ln w="539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8B6AC9B-80F2-8A7B-7736-71DCDEAFF9BD}"/>
                </a:ext>
              </a:extLst>
            </p:cNvPr>
            <p:cNvGrpSpPr/>
            <p:nvPr/>
          </p:nvGrpSpPr>
          <p:grpSpPr>
            <a:xfrm>
              <a:off x="7440011" y="3182842"/>
              <a:ext cx="3144519" cy="3387017"/>
              <a:chOff x="-7011" y="4265918"/>
              <a:chExt cx="3144519" cy="3387017"/>
            </a:xfrm>
          </p:grpSpPr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EE2D4EAD-0B65-FBAF-74B5-4E62E73D6013}"/>
                  </a:ext>
                </a:extLst>
              </p:cNvPr>
              <p:cNvSpPr/>
              <p:nvPr/>
            </p:nvSpPr>
            <p:spPr>
              <a:xfrm flipH="1">
                <a:off x="-7011" y="4544747"/>
                <a:ext cx="3082878" cy="3082878"/>
              </a:xfrm>
              <a:prstGeom prst="arc">
                <a:avLst>
                  <a:gd name="adj1" fmla="val 16200000"/>
                  <a:gd name="adj2" fmla="val 16710240"/>
                </a:avLst>
              </a:prstGeom>
              <a:ln w="1905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3BC6222-CF71-A47C-A57E-39A001BFD75D}"/>
                  </a:ext>
                </a:extLst>
              </p:cNvPr>
              <p:cNvGrpSpPr/>
              <p:nvPr/>
            </p:nvGrpSpPr>
            <p:grpSpPr>
              <a:xfrm>
                <a:off x="54630" y="4265918"/>
                <a:ext cx="3082878" cy="3387017"/>
                <a:chOff x="54630" y="4265918"/>
                <a:chExt cx="3082878" cy="3387017"/>
              </a:xfrm>
            </p:grpSpPr>
            <p:sp>
              <p:nvSpPr>
                <p:cNvPr id="15" name="Arc 14">
                  <a:extLst>
                    <a:ext uri="{FF2B5EF4-FFF2-40B4-BE49-F238E27FC236}">
                      <a16:creationId xmlns:a16="http://schemas.microsoft.com/office/drawing/2014/main" id="{B9114988-E203-3987-88EB-403898E0412C}"/>
                    </a:ext>
                  </a:extLst>
                </p:cNvPr>
                <p:cNvSpPr/>
                <p:nvPr/>
              </p:nvSpPr>
              <p:spPr>
                <a:xfrm>
                  <a:off x="54630" y="4570057"/>
                  <a:ext cx="3082878" cy="3082878"/>
                </a:xfrm>
                <a:prstGeom prst="arc">
                  <a:avLst>
                    <a:gd name="adj1" fmla="val 16159187"/>
                    <a:gd name="adj2" fmla="val 18937186"/>
                  </a:avLst>
                </a:prstGeom>
                <a:ln w="19050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EC0321A8-E279-EF61-01AE-030C390036D4}"/>
                    </a:ext>
                  </a:extLst>
                </p:cNvPr>
                <p:cNvGrpSpPr/>
                <p:nvPr/>
              </p:nvGrpSpPr>
              <p:grpSpPr>
                <a:xfrm>
                  <a:off x="852331" y="4265918"/>
                  <a:ext cx="694943" cy="621791"/>
                  <a:chOff x="852331" y="4265918"/>
                  <a:chExt cx="694943" cy="621791"/>
                </a:xfrm>
              </p:grpSpPr>
              <p:pic>
                <p:nvPicPr>
                  <p:cNvPr id="17" name="Picture 16" descr="A white grid with black arrows and a black drone&#10;&#10;Description automatically generated with medium confidence">
                    <a:extLst>
                      <a:ext uri="{FF2B5EF4-FFF2-40B4-BE49-F238E27FC236}">
                        <a16:creationId xmlns:a16="http://schemas.microsoft.com/office/drawing/2014/main" id="{47382570-4B93-A005-7151-0ADB298F5D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rcRect l="19393" t="42206" r="72592" b="44280"/>
                  <a:stretch>
                    <a:fillRect/>
                  </a:stretch>
                </p:blipFill>
                <p:spPr>
                  <a:xfrm>
                    <a:off x="852331" y="4265918"/>
                    <a:ext cx="612648" cy="621791"/>
                  </a:xfrm>
                  <a:prstGeom prst="rect">
                    <a:avLst/>
                  </a:prstGeom>
                </p:spPr>
              </p:pic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D584C70A-0D32-DD01-7622-3C63DF77FE50}"/>
                      </a:ext>
                    </a:extLst>
                  </p:cNvPr>
                  <p:cNvSpPr/>
                  <p:nvPr/>
                </p:nvSpPr>
                <p:spPr>
                  <a:xfrm>
                    <a:off x="1464979" y="4441371"/>
                    <a:ext cx="82295" cy="25438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970992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A6335-D2D8-94AA-906B-34010B475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FD17F-C180-C6D4-9FAE-2AFD8EC41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Definition of a Flight Program (</a:t>
            </a:r>
            <a:r>
              <a:rPr lang="en-US" sz="3600" b="1" err="1">
                <a:solidFill>
                  <a:schemeClr val="accent1">
                    <a:lumMod val="75000"/>
                  </a:schemeClr>
                </a:solidFill>
              </a:rPr>
              <a:t>ValidFP</a:t>
            </a:r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47C7FC-C147-8E9C-93E4-04F98EC3F3D7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6C9335-4557-4C43-A719-026D53C4C002}"/>
                  </a:ext>
                </a:extLst>
              </p:cNvPr>
              <p:cNvSpPr txBox="1"/>
              <p:nvPr/>
            </p:nvSpPr>
            <p:spPr>
              <a:xfrm>
                <a:off x="1755219" y="1505516"/>
                <a:ext cx="8681562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>
                    <a:solidFill>
                      <a:schemeClr val="accent1">
                        <a:lumMod val="75000"/>
                      </a:schemeClr>
                    </a:solidFill>
                    <a:highlight>
                      <a:srgbClr val="FFFFFF"/>
                    </a:highlight>
                  </a:rPr>
                  <a:t>Initialization: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br>
                  <a:rPr lang="en-US" sz="2800">
                    <a:highlight>
                      <a:srgbClr val="FFFFFF"/>
                    </a:highlight>
                  </a:rPr>
                </a:br>
                <a:endParaRPr lang="en-US" sz="2800">
                  <a:highlight>
                    <a:srgbClr val="FFFFFF"/>
                  </a:highlight>
                </a:endParaRPr>
              </a:p>
              <a:p>
                <a:r>
                  <a:rPr lang="en-US" sz="2800" b="1">
                    <a:solidFill>
                      <a:schemeClr val="accent1">
                        <a:lumMod val="75000"/>
                      </a:schemeClr>
                    </a:solidFill>
                    <a:highlight>
                      <a:srgbClr val="FFFFFF"/>
                    </a:highlight>
                  </a:rPr>
                  <a:t>Acceleration: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𝑣</m:t>
                    </m:r>
                    <m:func>
                      <m:funcPr>
                        <m:ctrlPr>
                          <a:rPr lang="en-US" sz="28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,  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𝑣</m:t>
                        </m:r>
                        <m:func>
                          <m:funcPr>
                            <m:ctrlPr>
                              <a:rPr lang="en-US" sz="280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8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8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sz="280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8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≔</m:t>
                            </m:r>
                            <m:r>
                              <a:rPr lang="en-US" sz="28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8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p>
                              <m:sSupPr>
                                <m:ctrlPr>
                                  <a:rPr lang="en-US" sz="280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8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≔0</m:t>
                            </m:r>
                          </m:e>
                        </m:func>
                      </m:e>
                    </m:func>
                  </m:oMath>
                </a14:m>
                <a:endParaRPr lang="en-US" sz="2800">
                  <a:highlight>
                    <a:srgbClr val="FFFFFF"/>
                  </a:highlight>
                </a:endParaRPr>
              </a:p>
              <a:p>
                <a:endParaRPr lang="en-US" sz="2800" b="1">
                  <a:solidFill>
                    <a:schemeClr val="accent1">
                      <a:lumMod val="75000"/>
                    </a:schemeClr>
                  </a:solidFill>
                  <a:highlight>
                    <a:srgbClr val="FFFFFF"/>
                  </a:highlight>
                </a:endParaRPr>
              </a:p>
              <a:p>
                <a:r>
                  <a:rPr lang="en-US" sz="2800" b="1">
                    <a:solidFill>
                      <a:schemeClr val="accent1">
                        <a:lumMod val="75000"/>
                      </a:schemeClr>
                    </a:solidFill>
                    <a:highlight>
                      <a:srgbClr val="FFFFFF"/>
                    </a:highlight>
                  </a:rPr>
                  <a:t>Turn: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i="1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800" i="1">
                        <a:solidFill>
                          <a:schemeClr val="accent1">
                            <a:lumMod val="75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𝑣</m:t>
                    </m:r>
                    <m:func>
                      <m:funcPr>
                        <m:ctrlPr>
                          <a:rPr lang="en-US" sz="2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,  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2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𝑣</m:t>
                        </m:r>
                        <m:func>
                          <m:funcPr>
                            <m:ctrlPr>
                              <a:rPr lang="en-US" sz="28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8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8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sz="28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28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8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≔</m:t>
                            </m:r>
                            <m:r>
                              <a:rPr lang="en-US" sz="28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p>
                              <m:sSupPr>
                                <m:ctrlPr>
                                  <a:rPr lang="en-US" sz="28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28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8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≔</m:t>
                            </m:r>
                            <m:r>
                              <a:rPr lang="en-US" sz="28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func>
                      </m:e>
                    </m:func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6C9335-4557-4C43-A719-026D53C4C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219" y="1505516"/>
                <a:ext cx="8681562" cy="2246769"/>
              </a:xfrm>
              <a:prstGeom prst="rect">
                <a:avLst/>
              </a:prstGeom>
              <a:blipFill>
                <a:blip r:embed="rId3"/>
                <a:stretch>
                  <a:fillRect l="-1475" t="-2710" b="-6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887547-CE2A-3250-E024-987B4BCDE78D}"/>
              </a:ext>
            </a:extLst>
          </p:cNvPr>
          <p:cNvCxnSpPr>
            <a:cxnSpLocks/>
          </p:cNvCxnSpPr>
          <p:nvPr/>
        </p:nvCxnSpPr>
        <p:spPr>
          <a:xfrm>
            <a:off x="256414" y="6351539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6C3F82D-2FB9-D7D3-C5C8-0343182C82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75" t="24944" r="6079" b="52791"/>
          <a:stretch>
            <a:fillRect/>
          </a:stretch>
        </p:blipFill>
        <p:spPr>
          <a:xfrm>
            <a:off x="473765" y="4277607"/>
            <a:ext cx="11244470" cy="117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63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381DC-BF31-1A58-59EC-8A3499A80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2C3409D-8920-A600-AAB5-5755D55C94B2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itle 1">
            <a:extLst>
              <a:ext uri="{FF2B5EF4-FFF2-40B4-BE49-F238E27FC236}">
                <a16:creationId xmlns:a16="http://schemas.microsoft.com/office/drawing/2014/main" id="{B4A5FA3C-B432-AB9F-3914-7D9A6D78BA1D}"/>
              </a:ext>
            </a:extLst>
          </p:cNvPr>
          <p:cNvSpPr txBox="1">
            <a:spLocks/>
          </p:cNvSpPr>
          <p:nvPr/>
        </p:nvSpPr>
        <p:spPr>
          <a:xfrm>
            <a:off x="331307" y="-27210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9DD9D9-A2AD-AFEA-A780-F993E0FB6920}"/>
              </a:ext>
            </a:extLst>
          </p:cNvPr>
          <p:cNvSpPr txBox="1"/>
          <p:nvPr/>
        </p:nvSpPr>
        <p:spPr>
          <a:xfrm>
            <a:off x="3622431" y="11957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08AEDA-FA94-DAED-4206-088407BEC020}"/>
              </a:ext>
            </a:extLst>
          </p:cNvPr>
          <p:cNvSpPr txBox="1"/>
          <p:nvPr/>
        </p:nvSpPr>
        <p:spPr>
          <a:xfrm>
            <a:off x="256414" y="6363325"/>
            <a:ext cx="15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* Not drawn to scale</a:t>
            </a:r>
          </a:p>
          <a:p>
            <a:endParaRPr lang="en-US" sz="1200"/>
          </a:p>
        </p:txBody>
      </p:sp>
      <p:pic>
        <p:nvPicPr>
          <p:cNvPr id="16" name="Picture 15" descr="  flight : MACRO ValidFP =&#10;    init(0,pi/2,1,0) ++ linear(5) ++ accel(1.5,2) ++ turn(1,pi) ++ linear(10)">
            <a:extLst>
              <a:ext uri="{FF2B5EF4-FFF2-40B4-BE49-F238E27FC236}">
                <a16:creationId xmlns:a16="http://schemas.microsoft.com/office/drawing/2014/main" id="{2C0B0284-13FF-2183-E9B9-0517B1E24D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559" t="27692" r="6732" b="53503"/>
          <a:stretch>
            <a:fillRect/>
          </a:stretch>
        </p:blipFill>
        <p:spPr>
          <a:xfrm>
            <a:off x="2194502" y="1640952"/>
            <a:ext cx="7802996" cy="747890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326C16B8-455C-238E-55AD-9C2378FC1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 of a Flight Program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411CFE-613A-3BE9-6588-34926306F677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621643D-FCC5-D94F-F4EC-59A04DF62A21}"/>
              </a:ext>
            </a:extLst>
          </p:cNvPr>
          <p:cNvGrpSpPr/>
          <p:nvPr/>
        </p:nvGrpSpPr>
        <p:grpSpPr>
          <a:xfrm>
            <a:off x="2841717" y="3094101"/>
            <a:ext cx="6508565" cy="2350066"/>
            <a:chOff x="2705882" y="3292639"/>
            <a:chExt cx="6508565" cy="235006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2145CA5-0338-D566-E0F0-5C55EDA50BBD}"/>
                </a:ext>
              </a:extLst>
            </p:cNvPr>
            <p:cNvGrpSpPr/>
            <p:nvPr/>
          </p:nvGrpSpPr>
          <p:grpSpPr>
            <a:xfrm>
              <a:off x="2705882" y="3292639"/>
              <a:ext cx="6508565" cy="2296941"/>
              <a:chOff x="2398805" y="4132396"/>
              <a:chExt cx="5899927" cy="203310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D34AF017-7248-BD2B-E245-6245691760DB}"/>
                  </a:ext>
                </a:extLst>
              </p:cNvPr>
              <p:cNvGrpSpPr/>
              <p:nvPr/>
            </p:nvGrpSpPr>
            <p:grpSpPr>
              <a:xfrm>
                <a:off x="3908279" y="4132396"/>
                <a:ext cx="4390453" cy="2033107"/>
                <a:chOff x="6514246" y="4316701"/>
                <a:chExt cx="4390453" cy="2033107"/>
              </a:xfrm>
            </p:grpSpPr>
            <p:sp>
              <p:nvSpPr>
                <p:cNvPr id="7" name="Arc 6">
                  <a:extLst>
                    <a:ext uri="{FF2B5EF4-FFF2-40B4-BE49-F238E27FC236}">
                      <a16:creationId xmlns:a16="http://schemas.microsoft.com/office/drawing/2014/main" id="{F0A60B53-1F97-98CE-3DDE-28F8F7F56911}"/>
                    </a:ext>
                  </a:extLst>
                </p:cNvPr>
                <p:cNvSpPr/>
                <p:nvPr/>
              </p:nvSpPr>
              <p:spPr>
                <a:xfrm>
                  <a:off x="9177254" y="4619797"/>
                  <a:ext cx="1727445" cy="1727445"/>
                </a:xfrm>
                <a:prstGeom prst="arc">
                  <a:avLst>
                    <a:gd name="adj1" fmla="val 16094488"/>
                    <a:gd name="adj2" fmla="val 5458679"/>
                  </a:avLst>
                </a:prstGeom>
                <a:ln w="539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C7E7FB9F-8D3F-489B-F5A9-EEA1D95A2786}"/>
                    </a:ext>
                  </a:extLst>
                </p:cNvPr>
                <p:cNvGrpSpPr/>
                <p:nvPr/>
              </p:nvGrpSpPr>
              <p:grpSpPr>
                <a:xfrm>
                  <a:off x="6514246" y="4316701"/>
                  <a:ext cx="3479932" cy="2033107"/>
                  <a:chOff x="6514246" y="4316701"/>
                  <a:chExt cx="3479932" cy="2033107"/>
                </a:xfrm>
              </p:grpSpPr>
              <p:pic>
                <p:nvPicPr>
                  <p:cNvPr id="11" name="Picture 10" descr="A white grid with black arrows and a black drone&#10;&#10;Description automatically generated with medium confidence">
                    <a:extLst>
                      <a:ext uri="{FF2B5EF4-FFF2-40B4-BE49-F238E27FC236}">
                        <a16:creationId xmlns:a16="http://schemas.microsoft.com/office/drawing/2014/main" id="{FD023837-A327-26CE-4A21-9D00561FD27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rcRect l="19393" t="42206" r="72592" b="44280"/>
                  <a:stretch>
                    <a:fillRect/>
                  </a:stretch>
                </p:blipFill>
                <p:spPr>
                  <a:xfrm>
                    <a:off x="6514246" y="4316701"/>
                    <a:ext cx="612648" cy="621791"/>
                  </a:xfrm>
                  <a:prstGeom prst="rect">
                    <a:avLst/>
                  </a:prstGeom>
                </p:spPr>
              </p:pic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6A2D03B3-B132-E282-113D-D5420741A450}"/>
                      </a:ext>
                    </a:extLst>
                  </p:cNvPr>
                  <p:cNvCxnSpPr>
                    <a:cxnSpLocks/>
                    <a:stCxn id="11" idx="3"/>
                  </p:cNvCxnSpPr>
                  <p:nvPr/>
                </p:nvCxnSpPr>
                <p:spPr>
                  <a:xfrm flipV="1">
                    <a:off x="7126894" y="4627596"/>
                    <a:ext cx="1345739" cy="1"/>
                  </a:xfrm>
                  <a:prstGeom prst="straightConnector1">
                    <a:avLst/>
                  </a:prstGeom>
                  <a:ln w="53975">
                    <a:prstDash val="soli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Arrow Connector 26">
                    <a:extLst>
                      <a:ext uri="{FF2B5EF4-FFF2-40B4-BE49-F238E27FC236}">
                        <a16:creationId xmlns:a16="http://schemas.microsoft.com/office/drawing/2014/main" id="{D4CF616B-FABB-2757-4E24-84315FB828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273972" y="6349808"/>
                    <a:ext cx="1720206" cy="0"/>
                  </a:xfrm>
                  <a:prstGeom prst="straightConnector1">
                    <a:avLst/>
                  </a:prstGeom>
                  <a:ln w="53975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Straight Arrow Connector 11">
                    <a:extLst>
                      <a:ext uri="{FF2B5EF4-FFF2-40B4-BE49-F238E27FC236}">
                        <a16:creationId xmlns:a16="http://schemas.microsoft.com/office/drawing/2014/main" id="{2D0F3506-3AE0-5CBC-B273-5E1719535D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544961" y="4626489"/>
                    <a:ext cx="1417636" cy="0"/>
                  </a:xfrm>
                  <a:prstGeom prst="straightConnector1">
                    <a:avLst/>
                  </a:prstGeom>
                  <a:ln w="53975">
                    <a:prstDash val="soli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50C593-E3DE-5C16-38AE-8CA385FF1325}"/>
                  </a:ext>
                </a:extLst>
              </p:cNvPr>
              <p:cNvSpPr txBox="1"/>
              <p:nvPr/>
            </p:nvSpPr>
            <p:spPr>
              <a:xfrm>
                <a:off x="2398805" y="5105343"/>
                <a:ext cx="1092607" cy="326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Example</a:t>
                </a:r>
                <a:r>
                  <a:rPr lang="en-US" baseline="30000"/>
                  <a:t>*</a:t>
                </a:r>
                <a:r>
                  <a:rPr lang="en-US"/>
                  <a:t>: </a:t>
                </a:r>
              </a:p>
            </p:txBody>
          </p:sp>
        </p:grp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5B13D5B-26C8-A93E-83CF-A206DC2A0A0C}"/>
                </a:ext>
              </a:extLst>
            </p:cNvPr>
            <p:cNvSpPr/>
            <p:nvPr/>
          </p:nvSpPr>
          <p:spPr>
            <a:xfrm>
              <a:off x="6545931" y="3586604"/>
              <a:ext cx="115330" cy="11533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741EFE5-FB34-0C48-DB62-DB44DD62F5E0}"/>
                </a:ext>
              </a:extLst>
            </p:cNvPr>
            <p:cNvSpPr/>
            <p:nvPr/>
          </p:nvSpPr>
          <p:spPr>
            <a:xfrm>
              <a:off x="8203957" y="3577402"/>
              <a:ext cx="115330" cy="11533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76F90B2-67BD-6BFB-5380-DBF8EE134366}"/>
                </a:ext>
              </a:extLst>
            </p:cNvPr>
            <p:cNvSpPr/>
            <p:nvPr/>
          </p:nvSpPr>
          <p:spPr>
            <a:xfrm>
              <a:off x="8117492" y="5527375"/>
              <a:ext cx="115330" cy="11533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5914789-1F82-A43C-9E36-C22F2C52FD64}"/>
                </a:ext>
              </a:extLst>
            </p:cNvPr>
            <p:cNvSpPr/>
            <p:nvPr/>
          </p:nvSpPr>
          <p:spPr>
            <a:xfrm>
              <a:off x="4982037" y="3584963"/>
              <a:ext cx="115330" cy="11533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ED09279-4FB9-0375-3D10-7E96A976E2D2}"/>
                </a:ext>
              </a:extLst>
            </p:cNvPr>
            <p:cNvSpPr/>
            <p:nvPr/>
          </p:nvSpPr>
          <p:spPr>
            <a:xfrm>
              <a:off x="6197003" y="5527375"/>
              <a:ext cx="115330" cy="11533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7729CC-B889-D50E-CEDD-988A308CA83F}"/>
              </a:ext>
            </a:extLst>
          </p:cNvPr>
          <p:cNvCxnSpPr>
            <a:cxnSpLocks/>
          </p:cNvCxnSpPr>
          <p:nvPr/>
        </p:nvCxnSpPr>
        <p:spPr>
          <a:xfrm>
            <a:off x="2466042" y="2286000"/>
            <a:ext cx="1656080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75D090E-BBE2-B511-168A-D15291BDEFFA}"/>
              </a:ext>
            </a:extLst>
          </p:cNvPr>
          <p:cNvCxnSpPr>
            <a:cxnSpLocks/>
          </p:cNvCxnSpPr>
          <p:nvPr/>
        </p:nvCxnSpPr>
        <p:spPr>
          <a:xfrm>
            <a:off x="4506909" y="2286000"/>
            <a:ext cx="959171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8538BF0-C845-A622-054A-A9F91E48EAF5}"/>
              </a:ext>
            </a:extLst>
          </p:cNvPr>
          <p:cNvCxnSpPr>
            <a:cxnSpLocks/>
          </p:cNvCxnSpPr>
          <p:nvPr/>
        </p:nvCxnSpPr>
        <p:spPr>
          <a:xfrm>
            <a:off x="5870214" y="2286000"/>
            <a:ext cx="1272266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79610D-1E71-53DE-E2B1-C05CC8D12C49}"/>
              </a:ext>
            </a:extLst>
          </p:cNvPr>
          <p:cNvCxnSpPr>
            <a:cxnSpLocks/>
          </p:cNvCxnSpPr>
          <p:nvPr/>
        </p:nvCxnSpPr>
        <p:spPr>
          <a:xfrm>
            <a:off x="7444633" y="2286000"/>
            <a:ext cx="1111952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7596502-252D-107C-3DF6-C133CAB1EA6B}"/>
              </a:ext>
            </a:extLst>
          </p:cNvPr>
          <p:cNvCxnSpPr>
            <a:cxnSpLocks/>
          </p:cNvCxnSpPr>
          <p:nvPr/>
        </p:nvCxnSpPr>
        <p:spPr>
          <a:xfrm>
            <a:off x="8885546" y="2286000"/>
            <a:ext cx="1111952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078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F2AA96-A1B5-7CE0-3CD5-961118209A32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4E37E8A-337B-788C-FFEA-A6C0EE277037}"/>
              </a:ext>
            </a:extLst>
          </p:cNvPr>
          <p:cNvSpPr txBox="1"/>
          <p:nvPr/>
        </p:nvSpPr>
        <p:spPr>
          <a:xfrm>
            <a:off x="340098" y="1091452"/>
            <a:ext cx="1108519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Flyable means that our position function is differentiable and our velocity is continuous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9A46B9-5B51-8F4D-96C6-48F121824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What does “</a:t>
            </a:r>
            <a:r>
              <a:rPr lang="en-US" sz="3600" b="1" i="1">
                <a:solidFill>
                  <a:schemeClr val="accent1">
                    <a:lumMod val="75000"/>
                  </a:schemeClr>
                </a:solidFill>
              </a:rPr>
              <a:t>flyable” </a:t>
            </a:r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mean?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9C6627-C40C-5154-A709-82F26FAA8BEA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Chart, radar chart&#10;&#10;AI-generated content may be incorrect.">
            <a:extLst>
              <a:ext uri="{FF2B5EF4-FFF2-40B4-BE49-F238E27FC236}">
                <a16:creationId xmlns:a16="http://schemas.microsoft.com/office/drawing/2014/main" id="{03672DD1-0B0F-8783-5123-5D6086EAD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12" y="2712957"/>
            <a:ext cx="3578784" cy="2796026"/>
          </a:xfrm>
          <a:prstGeom prst="rect">
            <a:avLst/>
          </a:prstGeom>
        </p:spPr>
      </p:pic>
      <p:pic>
        <p:nvPicPr>
          <p:cNvPr id="11" name="Picture 10" descr="A picture containing text, sky&#10;&#10;AI-generated content may be incorrect.">
            <a:extLst>
              <a:ext uri="{FF2B5EF4-FFF2-40B4-BE49-F238E27FC236}">
                <a16:creationId xmlns:a16="http://schemas.microsoft.com/office/drawing/2014/main" id="{C863742A-E83E-FA6A-6433-893050420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616" y="2712957"/>
            <a:ext cx="3578784" cy="2796026"/>
          </a:xfrm>
          <a:prstGeom prst="rect">
            <a:avLst/>
          </a:prstGeom>
        </p:spPr>
      </p:pic>
      <p:pic>
        <p:nvPicPr>
          <p:cNvPr id="14" name="Picture 13" descr="Chart, radar chart&#10;&#10;AI-generated content may be incorrect.">
            <a:extLst>
              <a:ext uri="{FF2B5EF4-FFF2-40B4-BE49-F238E27FC236}">
                <a16:creationId xmlns:a16="http://schemas.microsoft.com/office/drawing/2014/main" id="{F103D859-B532-2CEE-C65C-A75294947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720" y="2712957"/>
            <a:ext cx="3578784" cy="279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613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9668E-9BC5-75D5-2EBB-B6E52D01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D0F324-0614-7143-4EB4-34BB2F3FBDD1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AAA60CC-EAAE-7FCE-06EB-6DE92C8376BF}"/>
              </a:ext>
            </a:extLst>
          </p:cNvPr>
          <p:cNvSpPr txBox="1"/>
          <p:nvPr/>
        </p:nvSpPr>
        <p:spPr>
          <a:xfrm>
            <a:off x="340098" y="1091452"/>
            <a:ext cx="110851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Since we could not execute the hybrid programs there was not a way to reason about the intermediate states between the way points to show these flyable properties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What we did…</a:t>
            </a:r>
            <a:endParaRPr lang="en-US">
              <a:latin typeface="Menlo" panose="020B0609030804020204" pitchFamily="49" charset="0"/>
            </a:endParaRPr>
          </a:p>
          <a:p>
            <a:pPr lvl="2"/>
            <a:endParaRPr lang="en-US">
              <a:latin typeface="Menlo" panose="020B0609030804020204" pitchFamily="49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>
              <a:latin typeface="Menlo" panose="020B0609030804020204" pitchFamily="49" charset="0"/>
            </a:endParaRPr>
          </a:p>
          <a:p>
            <a:pPr marL="800100" lvl="1" indent="-342900">
              <a:buFont typeface="+mj-lt"/>
              <a:buAutoNum type="arabicPeriod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E304F-AACA-C924-6FA1-91813C967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254471"/>
            <a:ext cx="10515600" cy="642040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How we show “flyability”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370CB75-68B1-0E0F-9A5D-30A15863498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66712" y="2238375"/>
                <a:ext cx="5253088" cy="3938587"/>
              </a:xfrm>
              <a:ln>
                <a:solidFill>
                  <a:schemeClr val="accent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400"/>
              </a:p>
              <a:p>
                <a:pPr marL="0" indent="0">
                  <a:buNone/>
                </a:pPr>
                <a:r>
                  <a:rPr lang="en-US" sz="2400"/>
                  <a:t>ACCELERATION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sz="180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a</m:t>
                    </m:r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a</m:t>
                    </m:r>
                    <m:func>
                      <m:func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unc>
                      <m:func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800"/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800"/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800"/>
              </a:p>
              <a:p>
                <a:endParaRPr lang="en-US" sz="180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370CB75-68B1-0E0F-9A5D-30A1586349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66712" y="2238375"/>
                <a:ext cx="5253088" cy="3938587"/>
              </a:xfrm>
              <a:blipFill>
                <a:blip r:embed="rId3"/>
                <a:stretch>
                  <a:fillRect l="-173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BCA89C12-66FF-577E-18B9-110FA40D176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2238375"/>
                <a:ext cx="5144984" cy="3938588"/>
              </a:xfrm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endParaRPr lang="en-US" sz="2400"/>
              </a:p>
              <a:p>
                <a:pPr marL="0" indent="0">
                  <a:buNone/>
                </a:pPr>
                <a:r>
                  <a:rPr lang="en-US" sz="2400"/>
                  <a:t>TURN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1800" i="1">
                        <a:latin typeface="Cambria Math" panose="02040503050406030204" pitchFamily="18" charset="0"/>
                      </a:rPr>
                      <m:t>+−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800"/>
              </a:p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800"/>
              </a:p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BCA89C12-66FF-577E-18B9-110FA40D17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2238375"/>
                <a:ext cx="5144984" cy="3938588"/>
              </a:xfrm>
              <a:blipFill>
                <a:blip r:embed="rId4"/>
                <a:stretch>
                  <a:fillRect l="-177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47B290C-3976-12D4-97B5-C701FF3E1D33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487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FDDF1-0E9C-3111-567B-1F1E9132C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3665F9D-A101-17AE-78B1-E2DF8A651671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4A694E9-4E1C-7E3A-2F2D-7161297D4EDF}"/>
              </a:ext>
            </a:extLst>
          </p:cNvPr>
          <p:cNvSpPr txBox="1"/>
          <p:nvPr/>
        </p:nvSpPr>
        <p:spPr>
          <a:xfrm>
            <a:off x="340098" y="1091452"/>
            <a:ext cx="11085190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434340">
              <a:spcAft>
                <a:spcPts val="9000"/>
              </a:spcAft>
              <a:buFont typeface="Arial" panose="020B0604020202020204" pitchFamily="34" charset="0"/>
              <a:buChar char="•"/>
            </a:pPr>
            <a:r>
              <a:rPr lang="en-US"/>
              <a:t>Developed a function </a:t>
            </a:r>
            <a:r>
              <a:rPr lang="en-US" i="1" err="1">
                <a:latin typeface="Menlo" panose="020B0609030804020204" pitchFamily="49" charset="0"/>
              </a:rPr>
              <a:t>dl_state_t</a:t>
            </a:r>
            <a:r>
              <a:rPr lang="en-US" i="1">
                <a:latin typeface="Menlo" panose="020B0609030804020204" pitchFamily="49" charset="0"/>
              </a:rPr>
              <a:t>(hp : </a:t>
            </a:r>
            <a:r>
              <a:rPr lang="en-US" i="1" err="1">
                <a:latin typeface="Menlo" panose="020B0609030804020204" pitchFamily="49" charset="0"/>
              </a:rPr>
              <a:t>ValidFP</a:t>
            </a:r>
            <a:r>
              <a:rPr lang="en-US" i="1">
                <a:latin typeface="Menlo" panose="020B0609030804020204" pitchFamily="49" charset="0"/>
              </a:rPr>
              <a:t>)(t : </a:t>
            </a:r>
            <a:r>
              <a:rPr lang="en-US" i="1">
                <a:solidFill>
                  <a:srgbClr val="4EC9B0"/>
                </a:solidFill>
                <a:latin typeface="Menlo" panose="020B0609030804020204" pitchFamily="49" charset="0"/>
              </a:rPr>
              <a:t>real</a:t>
            </a:r>
            <a:r>
              <a:rPr lang="en-US" i="1">
                <a:latin typeface="Menlo" panose="020B0609030804020204" pitchFamily="49" charset="0"/>
              </a:rPr>
              <a:t>)</a:t>
            </a:r>
            <a:r>
              <a:rPr lang="en-US" i="1">
                <a:solidFill>
                  <a:srgbClr val="CCCCCC"/>
                </a:solidFill>
                <a:latin typeface="Menlo" panose="020B0609030804020204" pitchFamily="49" charset="0"/>
              </a:rPr>
              <a:t> </a:t>
            </a:r>
            <a:r>
              <a:rPr lang="en-US" i="1">
                <a:latin typeface="Menlo" panose="020B0609030804020204" pitchFamily="49" charset="0"/>
              </a:rPr>
              <a:t>: </a:t>
            </a:r>
            <a:r>
              <a:rPr lang="en-US" i="1" err="1">
                <a:latin typeface="Menlo" panose="020B0609030804020204" pitchFamily="49" charset="0"/>
              </a:rPr>
              <a:t>AircraftState</a:t>
            </a:r>
            <a:endParaRPr lang="en-US" i="1">
              <a:latin typeface="Menlo" panose="020B06090308040202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What we need to reason about differentiability and continuity on piecewise function in PVS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>
                <a:latin typeface="Cambria Math" panose="02040503050406030204" pitchFamily="18" charset="0"/>
              </a:rPr>
              <a:t>Continuity and Differentiability properties on functions define on the reals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>
                <a:latin typeface="Cambria Math" panose="02040503050406030204" pitchFamily="18" charset="0"/>
              </a:rPr>
              <a:t>Where the breakpoints happen according to time in these if statements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>
                <a:latin typeface="Cambria Math" panose="02040503050406030204" pitchFamily="18" charset="0"/>
              </a:rPr>
              <a:t>“If … then …” continuity property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>
                <a:latin typeface="Cambria Math" panose="02040503050406030204" pitchFamily="18" charset="0"/>
              </a:rPr>
              <a:t>“If … then …” differentiability property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>
              <a:latin typeface="Cambria Math" panose="02040503050406030204" pitchFamily="18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>
              <a:latin typeface="Menlo" panose="020B0609030804020204" pitchFamily="49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>
              <a:latin typeface="Menlo" panose="020B0609030804020204" pitchFamily="49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>
              <a:latin typeface="Menlo" panose="020B0609030804020204" pitchFamily="49" charset="0"/>
            </a:endParaRPr>
          </a:p>
          <a:p>
            <a:pPr lvl="2"/>
            <a:endParaRPr lang="en-US">
              <a:latin typeface="Menlo" panose="020B0609030804020204" pitchFamily="49" charset="0"/>
            </a:endParaRPr>
          </a:p>
          <a:p>
            <a:pPr marL="800100" lvl="1" indent="-342900">
              <a:buFont typeface="+mj-lt"/>
              <a:buAutoNum type="arabicPeriod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47898-AC57-E469-6FF8-74E306F18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How we show “flyability”(</a:t>
            </a:r>
            <a:r>
              <a:rPr lang="en-US" sz="3600" b="1" err="1">
                <a:solidFill>
                  <a:schemeClr val="accent1">
                    <a:lumMod val="75000"/>
                  </a:schemeClr>
                </a:solidFill>
              </a:rPr>
              <a:t>cont</a:t>
            </a:r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F72EA0-5BA1-4547-C092-0B0EAED34706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Left Brace 4">
            <a:extLst>
              <a:ext uri="{FF2B5EF4-FFF2-40B4-BE49-F238E27FC236}">
                <a16:creationId xmlns:a16="http://schemas.microsoft.com/office/drawing/2014/main" id="{18AB77B8-BF90-9C1B-1F04-8D95769DB864}"/>
              </a:ext>
            </a:extLst>
          </p:cNvPr>
          <p:cNvSpPr/>
          <p:nvPr/>
        </p:nvSpPr>
        <p:spPr>
          <a:xfrm rot="16200000">
            <a:off x="4617389" y="112801"/>
            <a:ext cx="548640" cy="3261947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D0E9AC21-07A4-FCEF-F37C-952607EE7644}"/>
              </a:ext>
            </a:extLst>
          </p:cNvPr>
          <p:cNvSpPr/>
          <p:nvPr/>
        </p:nvSpPr>
        <p:spPr>
          <a:xfrm rot="16200000">
            <a:off x="7009362" y="1070422"/>
            <a:ext cx="582647" cy="1312697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6D0984-C947-5A48-0151-F3554F9864A9}"/>
              </a:ext>
            </a:extLst>
          </p:cNvPr>
          <p:cNvSpPr txBox="1"/>
          <p:nvPr/>
        </p:nvSpPr>
        <p:spPr>
          <a:xfrm>
            <a:off x="3260736" y="1963397"/>
            <a:ext cx="3261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 piecewise function of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F72910-10C8-4480-FB58-86FD85DB27F2}"/>
              </a:ext>
            </a:extLst>
          </p:cNvPr>
          <p:cNvSpPr txBox="1"/>
          <p:nvPr/>
        </p:nvSpPr>
        <p:spPr>
          <a:xfrm>
            <a:off x="6834050" y="1963397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 (s)</a:t>
            </a:r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219DD889-273D-19C5-455E-10CFFE130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5142" y="2731680"/>
            <a:ext cx="358391" cy="358391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6142D6DE-6E28-8F12-3E95-FF6D3BCA5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76751" y="3051148"/>
            <a:ext cx="358391" cy="358391"/>
          </a:xfrm>
          <a:prstGeom prst="rect">
            <a:avLst/>
          </a:prstGeom>
        </p:spPr>
      </p:pic>
      <p:pic>
        <p:nvPicPr>
          <p:cNvPr id="14" name="Graphic 13" descr="Question Mark with solid fill">
            <a:extLst>
              <a:ext uri="{FF2B5EF4-FFF2-40B4-BE49-F238E27FC236}">
                <a16:creationId xmlns:a16="http://schemas.microsoft.com/office/drawing/2014/main" id="{D5A944B8-EC04-7390-A354-6111860982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35293" y="3051148"/>
            <a:ext cx="358391" cy="338929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1C9A19C2-D890-8094-4453-431260099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9328" y="3335996"/>
            <a:ext cx="358391" cy="358391"/>
          </a:xfrm>
          <a:prstGeom prst="rect">
            <a:avLst/>
          </a:prstGeom>
        </p:spPr>
      </p:pic>
      <p:pic>
        <p:nvPicPr>
          <p:cNvPr id="17" name="Graphic 16" descr="Add with solid fill">
            <a:extLst>
              <a:ext uri="{FF2B5EF4-FFF2-40B4-BE49-F238E27FC236}">
                <a16:creationId xmlns:a16="http://schemas.microsoft.com/office/drawing/2014/main" id="{8FBC587E-EB91-0AEC-61AA-7022562A42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726991">
            <a:off x="5550408" y="3617376"/>
            <a:ext cx="407642" cy="407642"/>
          </a:xfrm>
          <a:prstGeom prst="rect">
            <a:avLst/>
          </a:prstGeom>
        </p:spPr>
      </p:pic>
      <p:pic>
        <p:nvPicPr>
          <p:cNvPr id="18" name="Graphic 17" descr="Checkmark with solid fill">
            <a:extLst>
              <a:ext uri="{FF2B5EF4-FFF2-40B4-BE49-F238E27FC236}">
                <a16:creationId xmlns:a16="http://schemas.microsoft.com/office/drawing/2014/main" id="{5D34FAB9-C647-3DB8-BBAD-E6CEC04DE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302" y="3620086"/>
            <a:ext cx="358391" cy="35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00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F0EE0-F0B8-5F2E-0E82-CE4E55FF3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603AA2-C48B-76C4-E113-BEB7A1FAAEC6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8BD2298-955A-D4CB-5587-3B44012FF5C6}"/>
              </a:ext>
            </a:extLst>
          </p:cNvPr>
          <p:cNvSpPr txBox="1"/>
          <p:nvPr/>
        </p:nvSpPr>
        <p:spPr>
          <a:xfrm>
            <a:off x="340098" y="1091452"/>
            <a:ext cx="11085190" cy="523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/>
          </a:p>
          <a:p>
            <a:pPr>
              <a:lnSpc>
                <a:spcPts val="1350"/>
              </a:lnSpc>
              <a:buNone/>
            </a:pPr>
            <a:r>
              <a:rPr lang="en-US" sz="1600" b="0">
                <a:effectLst/>
                <a:latin typeface="Menlo" panose="020B0609030804020204" pitchFamily="49" charset="0"/>
              </a:rPr>
              <a:t>AC2</a:t>
            </a:r>
            <a:r>
              <a:rPr lang="en-US" sz="16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>
                <a:effectLst/>
                <a:latin typeface="Menlo" panose="020B0609030804020204" pitchFamily="49" charset="0"/>
              </a:rPr>
              <a:t>:</a:t>
            </a:r>
            <a:r>
              <a:rPr lang="en-US" sz="16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>
                <a:effectLst/>
                <a:latin typeface="Menlo" panose="020B0609030804020204" pitchFamily="49" charset="0"/>
              </a:rPr>
              <a:t>= </a:t>
            </a:r>
            <a:r>
              <a:rPr lang="en-US" sz="1600" b="0" err="1">
                <a:effectLst/>
                <a:latin typeface="Menlo" panose="020B0609030804020204" pitchFamily="49" charset="0"/>
              </a:rPr>
              <a:t>dl_writer_states</a:t>
            </a:r>
            <a:r>
              <a:rPr lang="en-US" sz="1600" b="0">
                <a:effectLst/>
                <a:latin typeface="Menlo" panose="020B0609030804020204" pitchFamily="49" charset="0"/>
              </a:rPr>
              <a:t>(</a:t>
            </a:r>
            <a:r>
              <a:rPr lang="en-US" sz="16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"AC2pc"</a:t>
            </a:r>
            <a:r>
              <a:rPr lang="en-US" sz="1600" b="0">
                <a:effectLst/>
                <a:latin typeface="Menlo" panose="020B0609030804020204" pitchFamily="49" charset="0"/>
              </a:rPr>
              <a:t>,init(</a:t>
            </a:r>
            <a:r>
              <a:rPr lang="en-US" sz="16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>
                <a:effectLst/>
                <a:latin typeface="Menlo" panose="020B0609030804020204" pitchFamily="49" charset="0"/>
              </a:rPr>
              <a:t>,</a:t>
            </a:r>
            <a:r>
              <a:rPr lang="en-US" sz="16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>
                <a:effectLst/>
                <a:latin typeface="Menlo" panose="020B0609030804020204" pitchFamily="49" charset="0"/>
              </a:rPr>
              <a:t>,</a:t>
            </a:r>
            <a:r>
              <a:rPr lang="en-US" sz="16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100</a:t>
            </a:r>
            <a:r>
              <a:rPr lang="en-US" sz="1600" b="0">
                <a:effectLst/>
                <a:latin typeface="Menlo" panose="020B0609030804020204" pitchFamily="49" charset="0"/>
              </a:rPr>
              <a:t>,</a:t>
            </a:r>
            <a:r>
              <a:rPr lang="en-US" sz="16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>
                <a:effectLst/>
                <a:latin typeface="Menlo" panose="020B0609030804020204" pitchFamily="49" charset="0"/>
              </a:rPr>
              <a:t>)++accel(</a:t>
            </a:r>
            <a:r>
              <a:rPr lang="en-US" sz="16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-10</a:t>
            </a:r>
            <a:r>
              <a:rPr lang="en-US" sz="16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6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sz="1600" b="0">
                <a:effectLst/>
                <a:latin typeface="Menlo" panose="020B0609030804020204" pitchFamily="49" charset="0"/>
              </a:rPr>
              <a:t>)++linear(</a:t>
            </a:r>
            <a:r>
              <a:rPr lang="en-US" sz="16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b="0">
                <a:effectLst/>
                <a:latin typeface="Menlo" panose="020B0609030804020204" pitchFamily="49" charset="0"/>
              </a:rPr>
              <a:t>),</a:t>
            </a:r>
            <a:r>
              <a:rPr lang="en-US" sz="16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b="0"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04B3F-0E7C-F489-E524-812D1D93D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PVSIO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C6534D-86A2-6A33-741E-A8E010F22750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icture containing text&#10;&#10;AI-generated content may be incorrect.">
            <a:extLst>
              <a:ext uri="{FF2B5EF4-FFF2-40B4-BE49-F238E27FC236}">
                <a16:creationId xmlns:a16="http://schemas.microsoft.com/office/drawing/2014/main" id="{A6100440-AF0F-D006-DE90-DE0217EFA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095" y="1846211"/>
            <a:ext cx="3778984" cy="445530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20A20E-10FA-3E91-FD6E-C10AB79875F9}"/>
              </a:ext>
            </a:extLst>
          </p:cNvPr>
          <p:cNvCxnSpPr>
            <a:cxnSpLocks/>
          </p:cNvCxnSpPr>
          <p:nvPr/>
        </p:nvCxnSpPr>
        <p:spPr>
          <a:xfrm flipH="1">
            <a:off x="6048462" y="2234193"/>
            <a:ext cx="10654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46BBF38-1296-9059-24D9-D85B8491EFB7}"/>
              </a:ext>
            </a:extLst>
          </p:cNvPr>
          <p:cNvSpPr txBox="1"/>
          <p:nvPr/>
        </p:nvSpPr>
        <p:spPr>
          <a:xfrm>
            <a:off x="7201320" y="2040558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Menlo" panose="020B0609030804020204" pitchFamily="49" charset="0"/>
              </a:rPr>
              <a:t>init</a:t>
            </a:r>
            <a:r>
              <a:rPr lang="en-US">
                <a:latin typeface="Menlo" panose="020B0609030804020204" pitchFamily="49" charset="0"/>
              </a:rPr>
              <a:t>(</a:t>
            </a:r>
            <a:r>
              <a:rPr lang="en-US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en-US">
                <a:latin typeface="Menlo" panose="020B0609030804020204" pitchFamily="49" charset="0"/>
              </a:rPr>
              <a:t>,</a:t>
            </a:r>
            <a:r>
              <a:rPr lang="en-US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en-US">
                <a:latin typeface="Menlo" panose="020B0609030804020204" pitchFamily="49" charset="0"/>
              </a:rPr>
              <a:t>,</a:t>
            </a:r>
            <a:r>
              <a:rPr lang="en-US">
                <a:solidFill>
                  <a:srgbClr val="B5CEA8"/>
                </a:solidFill>
                <a:latin typeface="Menlo" panose="020B0609030804020204" pitchFamily="49" charset="0"/>
              </a:rPr>
              <a:t>100</a:t>
            </a:r>
            <a:r>
              <a:rPr lang="en-US">
                <a:latin typeface="Menlo" panose="020B0609030804020204" pitchFamily="49" charset="0"/>
              </a:rPr>
              <a:t>,</a:t>
            </a:r>
            <a:r>
              <a:rPr lang="en-US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en-US">
                <a:latin typeface="Menlo" panose="020B0609030804020204" pitchFamily="49" charset="0"/>
              </a:rPr>
              <a:t>)</a:t>
            </a:r>
            <a:endParaRPr lang="en-US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19D6F7E7-8FA3-16BD-BC2D-88EF0E37A6F1}"/>
              </a:ext>
            </a:extLst>
          </p:cNvPr>
          <p:cNvSpPr/>
          <p:nvPr/>
        </p:nvSpPr>
        <p:spPr>
          <a:xfrm>
            <a:off x="6048462" y="2234193"/>
            <a:ext cx="1065402" cy="19267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431291-3F9A-D1B7-703B-695C581C2989}"/>
              </a:ext>
            </a:extLst>
          </p:cNvPr>
          <p:cNvSpPr txBox="1"/>
          <p:nvPr/>
        </p:nvSpPr>
        <p:spPr>
          <a:xfrm>
            <a:off x="7207583" y="3010609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Menlo" panose="020B0609030804020204" pitchFamily="49" charset="0"/>
              </a:rPr>
              <a:t>accel(</a:t>
            </a:r>
            <a:r>
              <a:rPr lang="en-US">
                <a:solidFill>
                  <a:srgbClr val="B5CEA8"/>
                </a:solidFill>
                <a:latin typeface="Menlo" panose="020B0609030804020204" pitchFamily="49" charset="0"/>
              </a:rPr>
              <a:t>-10</a:t>
            </a:r>
            <a:r>
              <a:rPr lang="en-US">
                <a:solidFill>
                  <a:srgbClr val="CCCCCC"/>
                </a:solidFill>
                <a:latin typeface="Menlo" panose="020B0609030804020204" pitchFamily="49" charset="0"/>
              </a:rPr>
              <a:t>,</a:t>
            </a:r>
            <a:r>
              <a:rPr lang="en-US">
                <a:solidFill>
                  <a:srgbClr val="B5CEA8"/>
                </a:solidFill>
                <a:latin typeface="Menlo" panose="020B0609030804020204" pitchFamily="49" charset="0"/>
              </a:rPr>
              <a:t>15</a:t>
            </a:r>
            <a:r>
              <a:rPr lang="en-US">
                <a:latin typeface="Menlo" panose="020B0609030804020204" pitchFamily="49" charset="0"/>
              </a:rPr>
              <a:t>)</a:t>
            </a:r>
            <a:endParaRPr lang="en-US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348A0B96-CE5A-4B74-04E1-B48C49D9015E}"/>
              </a:ext>
            </a:extLst>
          </p:cNvPr>
          <p:cNvSpPr/>
          <p:nvPr/>
        </p:nvSpPr>
        <p:spPr>
          <a:xfrm>
            <a:off x="6048462" y="4251357"/>
            <a:ext cx="1065402" cy="181387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219A06-4613-B299-1AD8-51F09CE33D7E}"/>
              </a:ext>
            </a:extLst>
          </p:cNvPr>
          <p:cNvSpPr txBox="1"/>
          <p:nvPr/>
        </p:nvSpPr>
        <p:spPr>
          <a:xfrm>
            <a:off x="7201320" y="4973630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Menlo" panose="020B0609030804020204" pitchFamily="49" charset="0"/>
              </a:rPr>
              <a:t>linear(</a:t>
            </a:r>
            <a:r>
              <a:rPr lang="en-US">
                <a:solidFill>
                  <a:srgbClr val="B5CEA8"/>
                </a:solidFill>
                <a:latin typeface="Menlo" panose="020B0609030804020204" pitchFamily="49" charset="0"/>
              </a:rPr>
              <a:t>10</a:t>
            </a:r>
            <a:r>
              <a:rPr lang="en-US">
                <a:latin typeface="Menlo" panose="020B0609030804020204" pitchFamily="49" charset="0"/>
              </a:rPr>
              <a:t>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8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 animBg="1"/>
      <p:bldP spid="16" grpId="0"/>
      <p:bldP spid="17" grpId="0" animBg="1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45BBD-75A2-8A3C-02B9-5FEC3C572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5A1C69-8501-C85F-7C17-5F3A793530F2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6F01F46-4C3B-9CF7-E315-B29535C18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Why Represent Flights This Way?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E250144-107A-3B92-AA96-1D104FDF0416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F917936-1C81-5830-C666-C450319F48C2}"/>
              </a:ext>
            </a:extLst>
          </p:cNvPr>
          <p:cNvSpPr txBox="1"/>
          <p:nvPr/>
        </p:nvSpPr>
        <p:spPr>
          <a:xfrm>
            <a:off x="933450" y="1876425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48ED4B-FE6D-1782-DC7F-2013DB9E7852}"/>
              </a:ext>
            </a:extLst>
          </p:cNvPr>
          <p:cNvSpPr txBox="1"/>
          <p:nvPr/>
        </p:nvSpPr>
        <p:spPr>
          <a:xfrm>
            <a:off x="5529083" y="1283477"/>
            <a:ext cx="647113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Once we do, we can prove properties about them!</a:t>
            </a:r>
          </a:p>
          <a:p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Ex.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inclusion/exclusion zone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obstacle avoidance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restriction of aircraft parameters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operational volume (rectangle)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We build proofs in </a:t>
            </a:r>
            <a:r>
              <a:rPr lang="en-US" sz="2400" b="1"/>
              <a:t>dL</a:t>
            </a:r>
            <a:r>
              <a:rPr lang="en-US" sz="2400"/>
              <a:t> with the following shape </a:t>
            </a:r>
            <a:r>
              <a:rPr lang="en-US" sz="2400">
                <a:sym typeface="Wingdings" pitchFamily="2" charset="2"/>
              </a:rPr>
              <a:t>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/>
          </a:p>
        </p:txBody>
      </p:sp>
      <p:pic>
        <p:nvPicPr>
          <p:cNvPr id="3" name="Picture 2" descr="A plane route with dotted lines&#10;&#10;Description automatically generated with medium confidence">
            <a:extLst>
              <a:ext uri="{FF2B5EF4-FFF2-40B4-BE49-F238E27FC236}">
                <a16:creationId xmlns:a16="http://schemas.microsoft.com/office/drawing/2014/main" id="{44F82622-26DF-F229-C351-EE6D24B7C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7201" y="3867259"/>
            <a:ext cx="3035300" cy="2310019"/>
          </a:xfrm>
          <a:prstGeom prst="rect">
            <a:avLst/>
          </a:prstGeom>
        </p:spPr>
      </p:pic>
      <p:pic>
        <p:nvPicPr>
          <p:cNvPr id="6" name="Picture 5" descr="A graph of a function&#10;&#10;Description automatically generated">
            <a:extLst>
              <a:ext uri="{FF2B5EF4-FFF2-40B4-BE49-F238E27FC236}">
                <a16:creationId xmlns:a16="http://schemas.microsoft.com/office/drawing/2014/main" id="{DF4D860C-23ED-38BA-BD7F-D63175DD0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30" y="1109393"/>
            <a:ext cx="3743850" cy="2679023"/>
          </a:xfrm>
          <a:prstGeom prst="rect">
            <a:avLst/>
          </a:prstGeom>
        </p:spPr>
      </p:pic>
      <p:pic>
        <p:nvPicPr>
          <p:cNvPr id="8" name="Picture 7" descr="A diagram of a quadcopter&#10;&#10;Description automatically generated">
            <a:extLst>
              <a:ext uri="{FF2B5EF4-FFF2-40B4-BE49-F238E27FC236}">
                <a16:creationId xmlns:a16="http://schemas.microsoft.com/office/drawing/2014/main" id="{315DCFC7-7F26-372F-8828-FA4A98108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7799" y="3831960"/>
            <a:ext cx="2324334" cy="23707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7FED74-EA5F-8DCA-71CC-F26AAC5DF92A}"/>
              </a:ext>
            </a:extLst>
          </p:cNvPr>
          <p:cNvSpPr txBox="1"/>
          <p:nvPr/>
        </p:nvSpPr>
        <p:spPr>
          <a:xfrm>
            <a:off x="256414" y="6363325"/>
            <a:ext cx="5672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[3]: Pictures from A Verification Framework for Runtime Assurance of Autonomous UAS </a:t>
            </a:r>
          </a:p>
          <a:p>
            <a:r>
              <a:rPr lang="en-US" sz="1200"/>
              <a:t>[4]: </a:t>
            </a:r>
            <a:r>
              <a:rPr lang="en-US" sz="1200" u="sng">
                <a:hlinkClick r:id="rId6"/>
              </a:rPr>
              <a:t>https://shemesh.larc.nasa.gov/fm/Plaidypvs/</a:t>
            </a:r>
            <a:endParaRPr lang="en-US" sz="1200"/>
          </a:p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478032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BCEB8-C036-A976-B044-B28CE15A1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CC943E-9BCB-6C09-F062-3F798885769E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1D7F4F4-0C8C-87A5-004F-9A637BE38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The dL Sequent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1FA37F-FFD3-7213-B8DF-CF86CBE1AC97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12B98E5-C5CF-0D5F-5FC9-139B4F9CABB4}"/>
              </a:ext>
            </a:extLst>
          </p:cNvPr>
          <p:cNvSpPr txBox="1"/>
          <p:nvPr/>
        </p:nvSpPr>
        <p:spPr>
          <a:xfrm>
            <a:off x="933450" y="1876425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3E5078B-10BB-D5D5-9973-1064812B1254}"/>
              </a:ext>
            </a:extLst>
          </p:cNvPr>
          <p:cNvGrpSpPr/>
          <p:nvPr/>
        </p:nvGrpSpPr>
        <p:grpSpPr>
          <a:xfrm>
            <a:off x="784393" y="1414760"/>
            <a:ext cx="10511604" cy="3650319"/>
            <a:chOff x="1483692" y="3625630"/>
            <a:chExt cx="8443829" cy="226966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28352BE-AD79-A34C-F2DA-9BBA1A35F5E8}"/>
                </a:ext>
              </a:extLst>
            </p:cNvPr>
            <p:cNvGrpSpPr/>
            <p:nvPr/>
          </p:nvGrpSpPr>
          <p:grpSpPr>
            <a:xfrm>
              <a:off x="1483692" y="3969498"/>
              <a:ext cx="8443829" cy="1925792"/>
              <a:chOff x="1557608" y="3386623"/>
              <a:chExt cx="8443829" cy="1925792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49E07EB-C045-48A0-80FD-EE73C3F67AF3}"/>
                  </a:ext>
                </a:extLst>
              </p:cNvPr>
              <p:cNvGrpSpPr/>
              <p:nvPr/>
            </p:nvGrpSpPr>
            <p:grpSpPr>
              <a:xfrm>
                <a:off x="3135928" y="3386623"/>
                <a:ext cx="4541361" cy="1120631"/>
                <a:chOff x="3636198" y="725849"/>
                <a:chExt cx="4541361" cy="112063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EDBF7EE5-228B-EA25-D7DD-9FF8AD3D9F0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44740" y="1387200"/>
                      <a:ext cx="2498594" cy="45928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48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sz="4800" b="0" i="0" smtClean="0">
                              <a:latin typeface="Cambria Math" panose="02040503050406030204" pitchFamily="18" charset="0"/>
                            </a:rPr>
                            <m:t>⊢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4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800" b="1" i="0" smtClean="0">
                                  <a:latin typeface="Cambria Math" panose="02040503050406030204" pitchFamily="18" charset="0"/>
                                </a:rPr>
                                <m:t>𝐅𝐏</m:t>
                              </m:r>
                            </m:e>
                          </m:d>
                          <m:r>
                            <a:rPr lang="en-US" sz="48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b="1" i="0" smtClean="0">
                              <a:latin typeface="Cambria Math" panose="02040503050406030204" pitchFamily="18" charset="0"/>
                            </a:rPr>
                            <m:t>𝐏</m:t>
                          </m:r>
                        </m:oMath>
                      </a14:m>
                      <a:r>
                        <a:rPr lang="en-US" sz="4800" b="1"/>
                        <a:t> </a:t>
                      </a:r>
                      <a:r>
                        <a:rPr lang="en-US" sz="4800"/>
                        <a:t>   </a:t>
                      </a:r>
                    </a:p>
                  </p:txBody>
                </p:sp>
              </mc:Choice>
              <mc:Fallback xmlns="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EDBF7EE5-228B-EA25-D7DD-9FF8AD3D9F0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44740" y="1387200"/>
                      <a:ext cx="2498594" cy="4592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F4C7B071-CE5F-F74B-B801-BE344A696A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08295" y="1630203"/>
                  <a:ext cx="969264" cy="0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B13B6384-8418-D560-C705-DA6503E648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36198" y="1627455"/>
                  <a:ext cx="973202" cy="2748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A00534F0-F805-F456-7198-0427EA372F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13715" y="725849"/>
                  <a:ext cx="180" cy="642551"/>
                </a:xfrm>
                <a:prstGeom prst="straightConnector1">
                  <a:avLst/>
                </a:prstGeom>
                <a:ln w="635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7DBC7F3-BE2D-2F25-E084-F513400778B9}"/>
                  </a:ext>
                </a:extLst>
              </p:cNvPr>
              <p:cNvSpPr txBox="1"/>
              <p:nvPr/>
            </p:nvSpPr>
            <p:spPr>
              <a:xfrm>
                <a:off x="1557608" y="4162794"/>
                <a:ext cx="1507631" cy="287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Assumptions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1890DD8-98CB-2CFC-D63C-AB5BFEAA28D6}"/>
                  </a:ext>
                </a:extLst>
              </p:cNvPr>
              <p:cNvSpPr txBox="1"/>
              <p:nvPr/>
            </p:nvSpPr>
            <p:spPr>
              <a:xfrm>
                <a:off x="8286948" y="4106311"/>
                <a:ext cx="1714489" cy="287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Some Property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97F8B5A-5BFF-2D04-3E9D-22B8EBCBB40D}"/>
                  </a:ext>
                </a:extLst>
              </p:cNvPr>
              <p:cNvSpPr txBox="1"/>
              <p:nvPr/>
            </p:nvSpPr>
            <p:spPr>
              <a:xfrm>
                <a:off x="7223525" y="5025365"/>
                <a:ext cx="2777912" cy="287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The “ALLRUNS” quantifier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9C8FB3-A67C-42D2-D8C3-4F0C656BCE29}"/>
                </a:ext>
              </a:extLst>
            </p:cNvPr>
            <p:cNvSpPr txBox="1"/>
            <p:nvPr/>
          </p:nvSpPr>
          <p:spPr>
            <a:xfrm>
              <a:off x="4589587" y="3625630"/>
              <a:ext cx="2179560" cy="28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/>
                <a:t>The Flyable Program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B5EA095-7A0B-B951-0F73-7527FD345BAF}"/>
                </a:ext>
              </a:extLst>
            </p:cNvPr>
            <p:cNvSpPr txBox="1"/>
            <p:nvPr/>
          </p:nvSpPr>
          <p:spPr>
            <a:xfrm>
              <a:off x="2139074" y="5608241"/>
              <a:ext cx="1507631" cy="28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/>
                <a:t>The Sequent</a:t>
              </a: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4AD8F2E-78E7-7C40-35A0-2C37FF3EC70D}"/>
              </a:ext>
            </a:extLst>
          </p:cNvPr>
          <p:cNvCxnSpPr>
            <a:cxnSpLocks/>
          </p:cNvCxnSpPr>
          <p:nvPr/>
        </p:nvCxnSpPr>
        <p:spPr>
          <a:xfrm flipV="1">
            <a:off x="4862303" y="3857737"/>
            <a:ext cx="224" cy="103342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E0FAE0-CB7C-8BBA-4A6A-7C660E697FC7}"/>
              </a:ext>
            </a:extLst>
          </p:cNvPr>
          <p:cNvCxnSpPr>
            <a:cxnSpLocks/>
          </p:cNvCxnSpPr>
          <p:nvPr/>
        </p:nvCxnSpPr>
        <p:spPr>
          <a:xfrm flipV="1">
            <a:off x="5471903" y="3857737"/>
            <a:ext cx="224" cy="103342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64D12E-CEEF-B51E-3637-0A681C3DB264}"/>
              </a:ext>
            </a:extLst>
          </p:cNvPr>
          <p:cNvCxnSpPr>
            <a:cxnSpLocks/>
          </p:cNvCxnSpPr>
          <p:nvPr/>
        </p:nvCxnSpPr>
        <p:spPr>
          <a:xfrm flipV="1">
            <a:off x="6365708" y="3858563"/>
            <a:ext cx="224" cy="103342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7A3820-D578-85C0-9F13-E79D8E24FA9F}"/>
              </a:ext>
            </a:extLst>
          </p:cNvPr>
          <p:cNvCxnSpPr>
            <a:cxnSpLocks/>
          </p:cNvCxnSpPr>
          <p:nvPr/>
        </p:nvCxnSpPr>
        <p:spPr>
          <a:xfrm>
            <a:off x="5444848" y="4869738"/>
            <a:ext cx="2189286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CC97A1-AA5F-C2C6-ADC8-923129027B1D}"/>
              </a:ext>
            </a:extLst>
          </p:cNvPr>
          <p:cNvCxnSpPr>
            <a:cxnSpLocks/>
          </p:cNvCxnSpPr>
          <p:nvPr/>
        </p:nvCxnSpPr>
        <p:spPr>
          <a:xfrm>
            <a:off x="3477098" y="4869738"/>
            <a:ext cx="1414005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034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F7846-93F2-124E-9E94-A7F06750B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3C685C-678C-13B6-D143-4C7CE5A23898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0368BFA-3F62-783F-17B6-88C14B714757}"/>
              </a:ext>
            </a:extLst>
          </p:cNvPr>
          <p:cNvSpPr txBox="1"/>
          <p:nvPr/>
        </p:nvSpPr>
        <p:spPr>
          <a:xfrm>
            <a:off x="3622431" y="11957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2E4B82-DDDF-804F-4147-85F47EB1E50D}"/>
              </a:ext>
            </a:extLst>
          </p:cNvPr>
          <p:cNvSpPr txBox="1"/>
          <p:nvPr/>
        </p:nvSpPr>
        <p:spPr>
          <a:xfrm>
            <a:off x="256414" y="6363325"/>
            <a:ext cx="15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* Not drawn to scale</a:t>
            </a:r>
          </a:p>
          <a:p>
            <a:endParaRPr lang="en-US" sz="12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9180076-130B-FE48-0373-FA06DC9E151C}"/>
              </a:ext>
            </a:extLst>
          </p:cNvPr>
          <p:cNvGrpSpPr/>
          <p:nvPr/>
        </p:nvGrpSpPr>
        <p:grpSpPr>
          <a:xfrm>
            <a:off x="2233184" y="3429000"/>
            <a:ext cx="6725092" cy="2794475"/>
            <a:chOff x="3019770" y="3230310"/>
            <a:chExt cx="6725092" cy="279447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A1EFA0B-8112-9679-DBBA-521C21616CE9}"/>
                </a:ext>
              </a:extLst>
            </p:cNvPr>
            <p:cNvGrpSpPr/>
            <p:nvPr/>
          </p:nvGrpSpPr>
          <p:grpSpPr>
            <a:xfrm>
              <a:off x="3019770" y="3343676"/>
              <a:ext cx="6508565" cy="2296941"/>
              <a:chOff x="2398805" y="4132396"/>
              <a:chExt cx="5899927" cy="203310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6B6A4B4-C2FA-C587-E0DA-698FD3E7FA1B}"/>
                  </a:ext>
                </a:extLst>
              </p:cNvPr>
              <p:cNvGrpSpPr/>
              <p:nvPr/>
            </p:nvGrpSpPr>
            <p:grpSpPr>
              <a:xfrm>
                <a:off x="3908279" y="4132396"/>
                <a:ext cx="4390453" cy="2033107"/>
                <a:chOff x="6514246" y="4316701"/>
                <a:chExt cx="4390453" cy="2033107"/>
              </a:xfrm>
            </p:grpSpPr>
            <p:sp>
              <p:nvSpPr>
                <p:cNvPr id="7" name="Arc 6">
                  <a:extLst>
                    <a:ext uri="{FF2B5EF4-FFF2-40B4-BE49-F238E27FC236}">
                      <a16:creationId xmlns:a16="http://schemas.microsoft.com/office/drawing/2014/main" id="{AD98B54C-8607-8B3C-CDFE-732D9DA5FA45}"/>
                    </a:ext>
                  </a:extLst>
                </p:cNvPr>
                <p:cNvSpPr/>
                <p:nvPr/>
              </p:nvSpPr>
              <p:spPr>
                <a:xfrm>
                  <a:off x="9177254" y="4619797"/>
                  <a:ext cx="1727445" cy="1727445"/>
                </a:xfrm>
                <a:prstGeom prst="arc">
                  <a:avLst>
                    <a:gd name="adj1" fmla="val 16094488"/>
                    <a:gd name="adj2" fmla="val 5458679"/>
                  </a:avLst>
                </a:prstGeom>
                <a:ln w="539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F36317F9-245D-543A-651A-0C5153E0A4A0}"/>
                    </a:ext>
                  </a:extLst>
                </p:cNvPr>
                <p:cNvGrpSpPr/>
                <p:nvPr/>
              </p:nvGrpSpPr>
              <p:grpSpPr>
                <a:xfrm>
                  <a:off x="6514246" y="4316701"/>
                  <a:ext cx="3479932" cy="2033107"/>
                  <a:chOff x="6514246" y="4316701"/>
                  <a:chExt cx="3479932" cy="2033107"/>
                </a:xfrm>
              </p:grpSpPr>
              <p:pic>
                <p:nvPicPr>
                  <p:cNvPr id="11" name="Picture 10" descr="A white grid with black arrows and a black drone&#10;&#10;Description automatically generated with medium confidence">
                    <a:extLst>
                      <a:ext uri="{FF2B5EF4-FFF2-40B4-BE49-F238E27FC236}">
                        <a16:creationId xmlns:a16="http://schemas.microsoft.com/office/drawing/2014/main" id="{6FA87283-4D59-4FC0-EF94-7A4F68F8D6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rcRect l="19393" t="42206" r="72592" b="44280"/>
                  <a:stretch>
                    <a:fillRect/>
                  </a:stretch>
                </p:blipFill>
                <p:spPr>
                  <a:xfrm>
                    <a:off x="6514246" y="4316701"/>
                    <a:ext cx="612648" cy="621791"/>
                  </a:xfrm>
                  <a:prstGeom prst="rect">
                    <a:avLst/>
                  </a:prstGeom>
                </p:spPr>
              </p:pic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B79C6D61-5402-48CE-6D2E-F512EF0F2AF5}"/>
                      </a:ext>
                    </a:extLst>
                  </p:cNvPr>
                  <p:cNvCxnSpPr>
                    <a:cxnSpLocks/>
                    <a:stCxn id="11" idx="3"/>
                  </p:cNvCxnSpPr>
                  <p:nvPr/>
                </p:nvCxnSpPr>
                <p:spPr>
                  <a:xfrm flipV="1">
                    <a:off x="7126894" y="4627596"/>
                    <a:ext cx="1345739" cy="1"/>
                  </a:xfrm>
                  <a:prstGeom prst="straightConnector1">
                    <a:avLst/>
                  </a:prstGeom>
                  <a:ln w="53975">
                    <a:prstDash val="soli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Arrow Connector 26">
                    <a:extLst>
                      <a:ext uri="{FF2B5EF4-FFF2-40B4-BE49-F238E27FC236}">
                        <a16:creationId xmlns:a16="http://schemas.microsoft.com/office/drawing/2014/main" id="{C1A36D9F-D9C4-D828-5194-CCC2D3D393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273972" y="6349808"/>
                    <a:ext cx="1720206" cy="0"/>
                  </a:xfrm>
                  <a:prstGeom prst="straightConnector1">
                    <a:avLst/>
                  </a:prstGeom>
                  <a:ln w="53975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Straight Arrow Connector 11">
                    <a:extLst>
                      <a:ext uri="{FF2B5EF4-FFF2-40B4-BE49-F238E27FC236}">
                        <a16:creationId xmlns:a16="http://schemas.microsoft.com/office/drawing/2014/main" id="{B18BA938-AE7A-A0CA-8835-5225AEDCD7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544961" y="4626489"/>
                    <a:ext cx="1417636" cy="0"/>
                  </a:xfrm>
                  <a:prstGeom prst="straightConnector1">
                    <a:avLst/>
                  </a:prstGeom>
                  <a:ln w="53975">
                    <a:prstDash val="soli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6BEE05-866C-5AC6-C512-3899D274D3B2}"/>
                  </a:ext>
                </a:extLst>
              </p:cNvPr>
              <p:cNvSpPr txBox="1"/>
              <p:nvPr/>
            </p:nvSpPr>
            <p:spPr>
              <a:xfrm>
                <a:off x="2398805" y="5105343"/>
                <a:ext cx="1092607" cy="326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Example</a:t>
                </a:r>
                <a:r>
                  <a:rPr lang="en-US" baseline="30000"/>
                  <a:t>*</a:t>
                </a:r>
                <a:r>
                  <a:rPr lang="en-US"/>
                  <a:t>: </a:t>
                </a:r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74B0186-0C7E-091B-A751-1343E261A5E6}"/>
                </a:ext>
              </a:extLst>
            </p:cNvPr>
            <p:cNvSpPr/>
            <p:nvPr/>
          </p:nvSpPr>
          <p:spPr>
            <a:xfrm>
              <a:off x="4204531" y="3230310"/>
              <a:ext cx="5540331" cy="2794475"/>
            </a:xfrm>
            <a:prstGeom prst="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27E90F9C-CFA6-BB49-CAD0-0C21EC74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How it looks in PVS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0EAE87-D366-AF19-92EA-1E2A432F0D12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7097B50-4EFB-A28F-FFC9-ED8B35D42F97}"/>
              </a:ext>
            </a:extLst>
          </p:cNvPr>
          <p:cNvGrpSpPr/>
          <p:nvPr/>
        </p:nvGrpSpPr>
        <p:grpSpPr>
          <a:xfrm>
            <a:off x="890108" y="1194208"/>
            <a:ext cx="10534208" cy="1996918"/>
            <a:chOff x="1933182" y="1262589"/>
            <a:chExt cx="8000320" cy="151658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4AF25A1-D1DF-575A-D79A-94C074F0B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072" t="27708" r="6754" b="32217"/>
            <a:stretch>
              <a:fillRect/>
            </a:stretch>
          </p:blipFill>
          <p:spPr>
            <a:xfrm>
              <a:off x="2258498" y="1262589"/>
              <a:ext cx="7675004" cy="1516581"/>
            </a:xfrm>
            <a:prstGeom prst="rect">
              <a:avLst/>
            </a:prstGeom>
          </p:spPr>
        </p:pic>
        <p:sp>
          <p:nvSpPr>
            <p:cNvPr id="19" name="5-Point Star 18">
              <a:extLst>
                <a:ext uri="{FF2B5EF4-FFF2-40B4-BE49-F238E27FC236}">
                  <a16:creationId xmlns:a16="http://schemas.microsoft.com/office/drawing/2014/main" id="{F5418383-01D8-BA0A-DE46-0B445F2166B4}"/>
                </a:ext>
              </a:extLst>
            </p:cNvPr>
            <p:cNvSpPr/>
            <p:nvPr/>
          </p:nvSpPr>
          <p:spPr>
            <a:xfrm>
              <a:off x="1933182" y="2082619"/>
              <a:ext cx="278391" cy="278391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3455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7C005-7695-8ADC-1F08-AA6BC55D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885347-E419-9FA4-7A6D-25356DC16B62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8E91513-5BD6-B459-D109-3FE8ADAA5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Proving Safety Properties of Flights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3F62442-A9EC-8C38-4596-CBFDA3836847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D75C765B-7A9E-6AEE-3642-E305788B7347}"/>
              </a:ext>
            </a:extLst>
          </p:cNvPr>
          <p:cNvSpPr/>
          <p:nvPr/>
        </p:nvSpPr>
        <p:spPr>
          <a:xfrm rot="16200000">
            <a:off x="9949142" y="1464967"/>
            <a:ext cx="111997" cy="1310505"/>
          </a:xfrm>
          <a:prstGeom prst="leftBracket">
            <a:avLst/>
          </a:prstGeom>
          <a:ln w="539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E3D8F1-9C77-4047-73B7-CF317E491E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72" t="27708" r="6754" b="54226"/>
          <a:stretch>
            <a:fillRect/>
          </a:stretch>
        </p:blipFill>
        <p:spPr>
          <a:xfrm>
            <a:off x="1259937" y="1226606"/>
            <a:ext cx="9400456" cy="837398"/>
          </a:xfrm>
          <a:prstGeom prst="rect">
            <a:avLst/>
          </a:prstGeom>
        </p:spPr>
      </p:pic>
      <p:sp>
        <p:nvSpPr>
          <p:cNvPr id="5" name="Left Bracket 4">
            <a:extLst>
              <a:ext uri="{FF2B5EF4-FFF2-40B4-BE49-F238E27FC236}">
                <a16:creationId xmlns:a16="http://schemas.microsoft.com/office/drawing/2014/main" id="{61BF084A-8603-A4AF-9823-05C2500B752C}"/>
              </a:ext>
            </a:extLst>
          </p:cNvPr>
          <p:cNvSpPr/>
          <p:nvPr/>
        </p:nvSpPr>
        <p:spPr>
          <a:xfrm rot="16200000">
            <a:off x="5191442" y="-1567427"/>
            <a:ext cx="111997" cy="7375293"/>
          </a:xfrm>
          <a:prstGeom prst="leftBracket">
            <a:avLst/>
          </a:prstGeom>
          <a:ln w="539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7C882A-805F-3623-75F1-F89B72903F84}"/>
              </a:ext>
            </a:extLst>
          </p:cNvPr>
          <p:cNvSpPr txBox="1"/>
          <p:nvPr/>
        </p:nvSpPr>
        <p:spPr>
          <a:xfrm>
            <a:off x="5345203" y="3519714"/>
            <a:ext cx="484428" cy="461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FP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1714D7-59D7-EAC5-9B71-BE8CDC0B8DD7}"/>
              </a:ext>
            </a:extLst>
          </p:cNvPr>
          <p:cNvCxnSpPr>
            <a:cxnSpLocks/>
          </p:cNvCxnSpPr>
          <p:nvPr/>
        </p:nvCxnSpPr>
        <p:spPr>
          <a:xfrm flipV="1">
            <a:off x="5530427" y="2347387"/>
            <a:ext cx="0" cy="1116547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8FD29F3-D63C-2EF3-4F73-28F56943D744}"/>
              </a:ext>
            </a:extLst>
          </p:cNvPr>
          <p:cNvGrpSpPr/>
          <p:nvPr/>
        </p:nvGrpSpPr>
        <p:grpSpPr>
          <a:xfrm>
            <a:off x="9521951" y="2347387"/>
            <a:ext cx="989373" cy="1633993"/>
            <a:chOff x="9601854" y="2517395"/>
            <a:chExt cx="807774" cy="133407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BC9C78B-6385-D322-1CBB-5C92F52671A7}"/>
                </a:ext>
              </a:extLst>
            </p:cNvPr>
            <p:cNvSpPr txBox="1"/>
            <p:nvPr/>
          </p:nvSpPr>
          <p:spPr>
            <a:xfrm>
              <a:off x="9601854" y="3474542"/>
              <a:ext cx="807774" cy="376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Action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79325A1-D431-749A-30DA-FC1DAEDEC6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2673" y="2517395"/>
              <a:ext cx="0" cy="911605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B2B7EF2-49D5-CEE4-9B2F-CCB7905085F8}"/>
                  </a:ext>
                </a:extLst>
              </p:cNvPr>
              <p:cNvSpPr txBox="1"/>
              <p:nvPr/>
            </p:nvSpPr>
            <p:spPr>
              <a:xfrm>
                <a:off x="1987832" y="4303216"/>
                <a:ext cx="821633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200" b="0">
                    <a:ln>
                      <a:noFill/>
                    </a:ln>
                    <a:solidFill>
                      <a:schemeClr val="tx1"/>
                    </a:solidFill>
                  </a:rPr>
                  <a:t>Want to Show: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3200" b="0" i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⊢</m:t>
                    </m:r>
                    <m:d>
                      <m:dPr>
                        <m:begChr m:val="["/>
                        <m:endChr m:val="]"/>
                        <m:ctrlPr>
                          <a:rPr lang="en-US" sz="3200" b="1" i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𝐇𝐏</m:t>
                        </m:r>
                      </m:e>
                    </m:d>
                    <m:r>
                      <a:rPr lang="en-US" sz="3200" b="1" i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sz="3200" b="1">
                    <a:ln>
                      <a:noFill/>
                    </a:ln>
                    <a:solidFill>
                      <a:schemeClr val="tx1"/>
                    </a:solidFill>
                  </a:rPr>
                  <a:t> </a:t>
                </a:r>
                <a:r>
                  <a:rPr lang="en-US" sz="3200">
                    <a:ln>
                      <a:noFill/>
                    </a:ln>
                    <a:solidFill>
                      <a:schemeClr val="tx1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B2B7EF2-49D5-CEE4-9B2F-CCB790508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832" y="4303216"/>
                <a:ext cx="8216335" cy="492443"/>
              </a:xfrm>
              <a:prstGeom prst="rect">
                <a:avLst/>
              </a:prstGeom>
              <a:blipFill>
                <a:blip r:embed="rId4"/>
                <a:stretch>
                  <a:fillRect l="-2967" t="-24691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ECABC1-3D41-35D6-E5B9-907F8A5E1F95}"/>
                  </a:ext>
                </a:extLst>
              </p:cNvPr>
              <p:cNvSpPr txBox="1"/>
              <p:nvPr/>
            </p:nvSpPr>
            <p:spPr>
              <a:xfrm>
                <a:off x="1987831" y="5126797"/>
                <a:ext cx="753412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200"/>
                  <a:t>Instead…                </a:t>
                </a:r>
                <a:r>
                  <a:rPr lang="en-US" sz="3200" b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⊢</m:t>
                    </m:r>
                    <m:d>
                      <m:dPr>
                        <m:begChr m:val="["/>
                        <m:endChr m:val="]"/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0" smtClean="0">
                            <a:latin typeface="Cambria Math" panose="02040503050406030204" pitchFamily="18" charset="0"/>
                          </a:rPr>
                          <m:t>𝐅𝐏</m:t>
                        </m:r>
                        <m:r>
                          <a:rPr lang="en-US" sz="32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200" b="1"/>
                          <m:t>++</m:t>
                        </m:r>
                        <m:r>
                          <m:rPr>
                            <m:nor/>
                          </m:rPr>
                          <a:rPr lang="en-US" sz="3200" b="1" smtClean="0"/>
                          <m:t> </m:t>
                        </m:r>
                        <m:r>
                          <a:rPr lang="en-US" sz="3200" b="1" i="0" smtClean="0">
                            <a:latin typeface="Cambria Math" panose="02040503050406030204" pitchFamily="18" charset="0"/>
                          </a:rPr>
                          <m:t>𝐚𝐜𝐭𝐢𝐨𝐧</m:t>
                        </m:r>
                      </m:e>
                    </m:d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sz="3200" b="1"/>
                  <a:t>   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ECABC1-3D41-35D6-E5B9-907F8A5E1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831" y="5126797"/>
                <a:ext cx="7534120" cy="492443"/>
              </a:xfrm>
              <a:prstGeom prst="rect">
                <a:avLst/>
              </a:prstGeom>
              <a:blipFill>
                <a:blip r:embed="rId5"/>
                <a:stretch>
                  <a:fillRect l="-3236" t="-23457" b="-50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021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5" grpId="0" animBg="1"/>
      <p:bldP spid="11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08F4C-9969-4ED6-93BB-DE52A2E73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308F5B-07CD-1DF8-EB2A-ED7AD023A666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1D59D5-134F-995A-4230-7A01DA165993}"/>
                  </a:ext>
                </a:extLst>
              </p:cNvPr>
              <p:cNvSpPr txBox="1"/>
              <p:nvPr/>
            </p:nvSpPr>
            <p:spPr>
              <a:xfrm>
                <a:off x="540418" y="2204903"/>
                <a:ext cx="11244470" cy="34470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en-US" sz="3200"/>
              </a:p>
              <a:p>
                <a:r>
                  <a:rPr lang="en-US" sz="3200"/>
                  <a:t>Find P’: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dirty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3200" dirty="0" smtClean="0">
                        <a:latin typeface="Cambria Math" panose="02040503050406030204" pitchFamily="18" charset="0"/>
                      </a:rPr>
                      <m:t>′ →</m:t>
                    </m:r>
                    <m:r>
                      <m:rPr>
                        <m:nor/>
                      </m:rPr>
                      <a:rPr lang="en-US" sz="3200" dirty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sz="3200" dirty="0"/>
                      <m:t>  </m:t>
                    </m:r>
                  </m:oMath>
                </a14:m>
                <a:endParaRPr lang="en-US" sz="3200"/>
              </a:p>
              <a:p>
                <a:r>
                  <a:rPr lang="en-US" sz="3200"/>
                  <a:t>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320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20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3200" smtClean="0">
                        <a:latin typeface="Cambria Math" panose="02040503050406030204" pitchFamily="18" charset="0"/>
                      </a:rPr>
                      <m:t>enclosure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smaller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3200" smtClean="0">
                        <a:latin typeface="Cambria Math" panose="02040503050406030204" pitchFamily="18" charset="0"/>
                      </a:rPr>
                      <m:t>enclosure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endParaRPr lang="en-US" sz="3200"/>
              </a:p>
              <a:p>
                <a:endParaRPr lang="en-US" sz="3200">
                  <a:latin typeface="Cambria Math" panose="02040503050406030204" pitchFamily="18" charset="0"/>
                </a:endParaRPr>
              </a:p>
              <a:p>
                <a:r>
                  <a:rPr lang="en-US" sz="3200"/>
                  <a:t>       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i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3200" i="0" smtClean="0">
                        <a:latin typeface="Cambria Math" panose="02040503050406030204" pitchFamily="18" charset="0"/>
                      </a:rPr>
                      <m:t>⊢</m:t>
                    </m:r>
                    <m:d>
                      <m:dPr>
                        <m:begChr m:val="["/>
                        <m:endChr m:val="]"/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0" smtClean="0">
                            <a:latin typeface="Cambria Math" panose="02040503050406030204" pitchFamily="18" charset="0"/>
                          </a:rPr>
                          <m:t>𝐅𝐏</m:t>
                        </m:r>
                        <m:r>
                          <a:rPr lang="en-US" sz="32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0" smtClean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US" sz="3200" b="1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320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sz="3200" i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3200" i="0" smtClean="0">
                        <a:latin typeface="Cambria Math" panose="02040503050406030204" pitchFamily="18" charset="0"/>
                      </a:rPr>
                      <m:t>⊢</m:t>
                    </m:r>
                    <m:d>
                      <m:dPr>
                        <m:begChr m:val="["/>
                        <m:endChr m:val="]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0" smtClean="0">
                            <a:latin typeface="Cambria Math" panose="02040503050406030204" pitchFamily="18" charset="0"/>
                          </a:rPr>
                          <m:t>𝐅𝐏</m:t>
                        </m:r>
                        <m:r>
                          <a:rPr lang="en-US" sz="32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200" b="1"/>
                          <m:t>++ </m:t>
                        </m:r>
                        <m:r>
                          <a:rPr lang="en-US" sz="3200" b="1" i="0" smtClean="0">
                            <a:latin typeface="Cambria Math" panose="02040503050406030204" pitchFamily="18" charset="0"/>
                          </a:rPr>
                          <m:t>𝐚𝐜𝐭𝐢𝐨𝐧</m:t>
                        </m:r>
                      </m:e>
                    </m:d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𝐏</m:t>
                    </m:r>
                    <m:r>
                      <m:rPr>
                        <m:nor/>
                      </m:rPr>
                      <a:rPr lang="en-US" sz="3200" b="1" dirty="0"/>
                      <m:t> </m:t>
                    </m:r>
                  </m:oMath>
                </a14:m>
                <a:endParaRPr lang="en-US" sz="3200" b="1"/>
              </a:p>
              <a:p>
                <a:endParaRPr lang="en-US" sz="3200"/>
              </a:p>
              <a:p>
                <a:endParaRPr lang="en-US" sz="32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1D59D5-134F-995A-4230-7A01DA165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18" y="2204903"/>
                <a:ext cx="11244470" cy="3447098"/>
              </a:xfrm>
              <a:prstGeom prst="rect">
                <a:avLst/>
              </a:prstGeom>
              <a:blipFill>
                <a:blip r:embed="rId3"/>
                <a:stretch>
                  <a:fillRect l="-22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CCE513-B658-9B6B-6E03-39DCEC6FDEA5}"/>
                  </a:ext>
                </a:extLst>
              </p:cNvPr>
              <p:cNvSpPr txBox="1"/>
              <p:nvPr/>
            </p:nvSpPr>
            <p:spPr>
              <a:xfrm>
                <a:off x="540418" y="1537119"/>
                <a:ext cx="978981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200"/>
                  <a:t>Want to Show:      </a:t>
                </a:r>
                <a:r>
                  <a:rPr lang="en-US" sz="3200" b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⊢</m:t>
                    </m:r>
                    <m:d>
                      <m:dPr>
                        <m:begChr m:val="["/>
                        <m:endChr m:val="]"/>
                        <m:ctrlP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𝐅𝐏</m:t>
                        </m:r>
                        <m:r>
                          <a:rPr lang="en-US" sz="32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200" b="1">
                            <a:solidFill>
                              <a:schemeClr val="tx1"/>
                            </a:solidFill>
                          </a:rPr>
                          <m:t>++</m:t>
                        </m:r>
                        <m:r>
                          <m:rPr>
                            <m:nor/>
                          </m:rPr>
                          <a:rPr lang="en-US" sz="3200" b="1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a:rPr lang="en-US" sz="32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𝐚𝐜𝐭𝐢𝐨𝐧</m:t>
                        </m:r>
                      </m:e>
                    </m:d>
                    <m:r>
                      <a:rPr lang="en-US" sz="32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sz="3200" b="1">
                    <a:solidFill>
                      <a:schemeClr val="tx1"/>
                    </a:solidFill>
                  </a:rPr>
                  <a:t>    </a:t>
                </a:r>
                <a:endParaRPr lang="en-US" sz="3200" b="1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CCE513-B658-9B6B-6E03-39DCEC6FD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18" y="1537119"/>
                <a:ext cx="9789819" cy="492443"/>
              </a:xfrm>
              <a:prstGeom prst="rect">
                <a:avLst/>
              </a:prstGeom>
              <a:blipFill>
                <a:blip r:embed="rId4"/>
                <a:stretch>
                  <a:fillRect l="-2553" t="-23457" b="-50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5F37C28C-0E32-5DD0-95F6-AE84B07B3AF5}"/>
              </a:ext>
            </a:extLst>
          </p:cNvPr>
          <p:cNvGrpSpPr/>
          <p:nvPr/>
        </p:nvGrpSpPr>
        <p:grpSpPr>
          <a:xfrm>
            <a:off x="3429188" y="4614553"/>
            <a:ext cx="2011680" cy="1332225"/>
            <a:chOff x="3429188" y="4614553"/>
            <a:chExt cx="2011680" cy="1332225"/>
          </a:xfrm>
        </p:grpSpPr>
        <p:sp>
          <p:nvSpPr>
            <p:cNvPr id="22" name="Left Bracket 21">
              <a:extLst>
                <a:ext uri="{FF2B5EF4-FFF2-40B4-BE49-F238E27FC236}">
                  <a16:creationId xmlns:a16="http://schemas.microsoft.com/office/drawing/2014/main" id="{28B96969-F88C-4BEE-49DD-766039F8E82A}"/>
                </a:ext>
              </a:extLst>
            </p:cNvPr>
            <p:cNvSpPr/>
            <p:nvPr/>
          </p:nvSpPr>
          <p:spPr>
            <a:xfrm rot="16200000">
              <a:off x="4389308" y="3654433"/>
              <a:ext cx="91440" cy="2011680"/>
            </a:xfrm>
            <a:prstGeom prst="leftBracket">
              <a:avLst/>
            </a:prstGeom>
            <a:ln w="539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Bent-Up Arrow 56">
              <a:extLst>
                <a:ext uri="{FF2B5EF4-FFF2-40B4-BE49-F238E27FC236}">
                  <a16:creationId xmlns:a16="http://schemas.microsoft.com/office/drawing/2014/main" id="{9029716E-9F44-3899-4757-0897C363E4C8}"/>
                </a:ext>
              </a:extLst>
            </p:cNvPr>
            <p:cNvSpPr/>
            <p:nvPr/>
          </p:nvSpPr>
          <p:spPr>
            <a:xfrm>
              <a:off x="4191890" y="4820281"/>
              <a:ext cx="464889" cy="1126497"/>
            </a:xfrm>
            <a:prstGeom prst="bentUpArrow">
              <a:avLst>
                <a:gd name="adj1" fmla="val 9155"/>
                <a:gd name="adj2" fmla="val 25000"/>
                <a:gd name="adj3" fmla="val 30282"/>
              </a:avLst>
            </a:prstGeom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BABB61-FBC8-33E7-E361-CBAA9AC68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Proving Safety Properties of Flights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86FF46-1BB2-D959-0D95-9073242E8DC1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01FDA6-B17F-13AE-E577-D9BD14966124}"/>
              </a:ext>
            </a:extLst>
          </p:cNvPr>
          <p:cNvCxnSpPr>
            <a:cxnSpLocks/>
          </p:cNvCxnSpPr>
          <p:nvPr/>
        </p:nvCxnSpPr>
        <p:spPr>
          <a:xfrm>
            <a:off x="7130142" y="4699659"/>
            <a:ext cx="2895600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C7437D-3B21-683B-CA99-40777ED5BC58}"/>
              </a:ext>
            </a:extLst>
          </p:cNvPr>
          <p:cNvCxnSpPr>
            <a:cxnSpLocks/>
          </p:cNvCxnSpPr>
          <p:nvPr/>
        </p:nvCxnSpPr>
        <p:spPr>
          <a:xfrm>
            <a:off x="4343400" y="2051334"/>
            <a:ext cx="2895600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77540C4-065C-15A1-9E14-C0CDF75AE3ED}"/>
              </a:ext>
            </a:extLst>
          </p:cNvPr>
          <p:cNvSpPr txBox="1"/>
          <p:nvPr/>
        </p:nvSpPr>
        <p:spPr>
          <a:xfrm>
            <a:off x="446314" y="5586396"/>
            <a:ext cx="81316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Simplify the problem:                … and repeat!</a:t>
            </a:r>
          </a:p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08062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BB7C2-B934-D3E5-BA58-71EA23DE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4658A5-F15A-5B4A-F42D-8F802440071E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BE7780D-047B-D973-1943-27960C7E1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Using the lemma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84FB7F-F3E6-D274-3329-33652BA1B590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0AADC7-1DA0-96F6-FBA3-C3354F2A8BCB}"/>
                  </a:ext>
                </a:extLst>
              </p:cNvPr>
              <p:cNvSpPr txBox="1"/>
              <p:nvPr/>
            </p:nvSpPr>
            <p:spPr>
              <a:xfrm>
                <a:off x="903188" y="1521231"/>
                <a:ext cx="1090781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200"/>
                  <a:t>We just did: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⊢</m:t>
                    </m:r>
                    <m:d>
                      <m:dPr>
                        <m:begChr m:val="["/>
                        <m:endChr m:val="]"/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FP</m:t>
                        </m:r>
                        <m: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200">
                            <a:solidFill>
                              <a:schemeClr val="tx1"/>
                            </a:solidFill>
                          </a:rPr>
                          <m:t>++</m:t>
                        </m:r>
                        <m:r>
                          <m:rPr>
                            <m:nor/>
                          </m:rPr>
                          <a:rPr lang="en-US" sz="320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action</m:t>
                        </m:r>
                      </m:e>
                    </m:d>
                    <m:r>
                      <a:rPr lang="en-US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sz="3200">
                    <a:solidFill>
                      <a:schemeClr val="tx1"/>
                    </a:solidFill>
                  </a:rPr>
                  <a:t>   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0AADC7-1DA0-96F6-FBA3-C3354F2A8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88" y="1521231"/>
                <a:ext cx="10907812" cy="492443"/>
              </a:xfrm>
              <a:prstGeom prst="rect">
                <a:avLst/>
              </a:prstGeom>
              <a:blipFill>
                <a:blip r:embed="rId3"/>
                <a:stretch>
                  <a:fillRect l="-2235" t="-25000" b="-5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AD4121-CCAC-4869-6D7E-EEA0D71D6796}"/>
                  </a:ext>
                </a:extLst>
              </p:cNvPr>
              <p:cNvSpPr txBox="1"/>
              <p:nvPr/>
            </p:nvSpPr>
            <p:spPr>
              <a:xfrm>
                <a:off x="1578606" y="5558446"/>
                <a:ext cx="4778488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3200">
                          <a:latin typeface="Cambria Math" panose="02040503050406030204" pitchFamily="18" charset="0"/>
                        </a:rPr>
                        <m:t>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𝐅𝐏</m:t>
                          </m:r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 b="1"/>
                            <m:t>++ </m:t>
                          </m:r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𝐚𝐜𝐭𝐢𝐨𝐧</m:t>
                          </m:r>
                        </m:e>
                      </m:d>
                      <m:r>
                        <a:rPr lang="en-US" sz="3200" b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>
                          <a:latin typeface="Cambria Math" panose="02040503050406030204" pitchFamily="18" charset="0"/>
                        </a:rPr>
                        <m:t>𝐏</m:t>
                      </m:r>
                      <m:r>
                        <m:rPr>
                          <m:nor/>
                        </m:rPr>
                        <a:rPr lang="en-US" sz="3200" b="1" dirty="0"/>
                        <m:t> </m:t>
                      </m:r>
                    </m:oMath>
                  </m:oMathPara>
                </a14:m>
                <a:endParaRPr lang="en-US" sz="3200"/>
              </a:p>
              <a:p>
                <a:endParaRPr lang="en-US" sz="32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AD4121-CCAC-4869-6D7E-EEA0D71D6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606" y="5558446"/>
                <a:ext cx="4778488" cy="10772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C2C7DC-FE6E-69EB-694E-8E973AEE489B}"/>
                  </a:ext>
                </a:extLst>
              </p:cNvPr>
              <p:cNvSpPr txBox="1"/>
              <p:nvPr/>
            </p:nvSpPr>
            <p:spPr>
              <a:xfrm>
                <a:off x="6765208" y="5558446"/>
                <a:ext cx="28315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FP</m:t>
                          </m:r>
                        </m:e>
                      </m:d>
                      <m:r>
                        <a:rPr lang="en-US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sz="3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l-GR" sz="3200">
                          <a:solidFill>
                            <a:srgbClr val="FF0000"/>
                          </a:solidFill>
                        </a:rPr>
                        <m:t>Λ</m:t>
                      </m:r>
                      <m:r>
                        <a:rPr lang="en-US" sz="32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C2C7DC-FE6E-69EB-694E-8E973AEE4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208" y="5558446"/>
                <a:ext cx="283152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61DE4B-4C49-6BB1-8BE9-6D6B1CEB85A1}"/>
              </a:ext>
            </a:extLst>
          </p:cNvPr>
          <p:cNvCxnSpPr>
            <a:cxnSpLocks/>
          </p:cNvCxnSpPr>
          <p:nvPr/>
        </p:nvCxnSpPr>
        <p:spPr>
          <a:xfrm>
            <a:off x="6672942" y="2037159"/>
            <a:ext cx="0" cy="50074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B86051B-1BD1-E60C-127A-4B9616FFF9B9}"/>
                  </a:ext>
                </a:extLst>
              </p:cNvPr>
              <p:cNvSpPr txBox="1"/>
              <p:nvPr/>
            </p:nvSpPr>
            <p:spPr>
              <a:xfrm>
                <a:off x="5254509" y="2537902"/>
                <a:ext cx="283686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3200">
                          <a:latin typeface="Cambria Math" panose="02040503050406030204" pitchFamily="18" charset="0"/>
                        </a:rPr>
                        <m:t>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FP</m:t>
                          </m:r>
                        </m:e>
                      </m:d>
                      <m:r>
                        <a:rPr lang="en-US" sz="3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20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sz="3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l-GR" sz="3200"/>
                        <m:t>Λ</m:t>
                      </m:r>
                      <m:r>
                        <a:rPr lang="en-US" sz="3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B86051B-1BD1-E60C-127A-4B9616FFF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509" y="2537902"/>
                <a:ext cx="283686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4844D4E-A7C8-4842-539A-E4774CE5A6DB}"/>
                  </a:ext>
                </a:extLst>
              </p:cNvPr>
              <p:cNvSpPr txBox="1"/>
              <p:nvPr/>
            </p:nvSpPr>
            <p:spPr>
              <a:xfrm>
                <a:off x="417541" y="3767109"/>
                <a:ext cx="947757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/>
                  <a:t>But the lemma expects:      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𝚪</m:t>
                    </m:r>
                    <m:r>
                      <a:rPr lang="en-US" sz="3200" b="1">
                        <a:latin typeface="Cambria Math" panose="02040503050406030204" pitchFamily="18" charset="0"/>
                      </a:rPr>
                      <m:t>⊢</m:t>
                    </m:r>
                    <m:d>
                      <m:dPr>
                        <m:begChr m:val="["/>
                        <m:endChr m:val="]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𝐅𝐏</m:t>
                        </m:r>
                        <m:r>
                          <a:rPr lang="en-US" sz="3200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200" b="1"/>
                          <m:t>++ </m:t>
                        </m:r>
                        <m:r>
                          <a:rPr lang="en-US" sz="3200" b="1" i="0">
                            <a:latin typeface="Cambria Math" panose="02040503050406030204" pitchFamily="18" charset="0"/>
                          </a:rPr>
                          <m:t>𝐚𝐜𝐭𝐢𝐨𝐧</m:t>
                        </m:r>
                      </m:e>
                    </m:d>
                    <m:r>
                      <a:rPr lang="en-US" sz="3200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endParaRPr lang="en-US" sz="3200" b="1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4844D4E-A7C8-4842-539A-E4774CE5A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41" y="3767109"/>
                <a:ext cx="9477573" cy="584775"/>
              </a:xfrm>
              <a:prstGeom prst="rect">
                <a:avLst/>
              </a:prstGeom>
              <a:blipFill>
                <a:blip r:embed="rId7"/>
                <a:stretch>
                  <a:fillRect l="-1608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947FB76-FEF3-EDC7-BC20-37042B2E1052}"/>
                  </a:ext>
                </a:extLst>
              </p:cNvPr>
              <p:cNvSpPr txBox="1"/>
              <p:nvPr/>
            </p:nvSpPr>
            <p:spPr>
              <a:xfrm>
                <a:off x="417541" y="4411541"/>
                <a:ext cx="672536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/>
                  <a:t>	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⊢</m:t>
                    </m:r>
                    <m:d>
                      <m:dPr>
                        <m:begChr m:val="["/>
                        <m:endChr m:val="]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</a:rPr>
                          <m:t>FP</m:t>
                        </m:r>
                        <m:r>
                          <a:rPr lang="en-US" sz="32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32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320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947FB76-FEF3-EDC7-BC20-37042B2E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41" y="4411541"/>
                <a:ext cx="6725367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Graphic 27" descr="Close with solid fill">
            <a:extLst>
              <a:ext uri="{FF2B5EF4-FFF2-40B4-BE49-F238E27FC236}">
                <a16:creationId xmlns:a16="http://schemas.microsoft.com/office/drawing/2014/main" id="{2BFB55F5-7050-426F-8FED-A0CCC77718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56194" y="539363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0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4" grpId="0"/>
      <p:bldP spid="25" grpId="0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E686D-B3F7-48A9-E84D-986F75F05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67D8EB-E770-83B4-5BC8-DE20455B825F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61E01F5-683E-3273-35F2-0EA5664F6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How we overcome this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3FB1E1-FC6B-F685-39A5-A9E76E292A4F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C5B187-1AA1-B09D-FFFC-3AB6E9DC6A01}"/>
                  </a:ext>
                </a:extLst>
              </p:cNvPr>
              <p:cNvSpPr txBox="1"/>
              <p:nvPr/>
            </p:nvSpPr>
            <p:spPr>
              <a:xfrm>
                <a:off x="6753485" y="1695120"/>
                <a:ext cx="4071258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3200">
                          <a:latin typeface="Cambria Math" panose="02040503050406030204" pitchFamily="18" charset="0"/>
                        </a:rPr>
                        <m:t>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𝐅𝐏</m:t>
                          </m:r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 b="1"/>
                            <m:t>++ </m:t>
                          </m:r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𝐚𝐜𝐭𝐢𝐨𝐧</m:t>
                          </m:r>
                        </m:e>
                      </m:d>
                      <m:r>
                        <a:rPr lang="en-US" sz="3200" b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>
                          <a:latin typeface="Cambria Math" panose="02040503050406030204" pitchFamily="18" charset="0"/>
                        </a:rPr>
                        <m:t>𝐏</m:t>
                      </m:r>
                      <m:r>
                        <m:rPr>
                          <m:nor/>
                        </m:rPr>
                        <a:rPr lang="en-US" sz="3200" b="1" dirty="0"/>
                        <m:t> </m:t>
                      </m:r>
                    </m:oMath>
                  </m:oMathPara>
                </a14:m>
                <a:endParaRPr lang="en-US" sz="3200"/>
              </a:p>
              <a:p>
                <a:endParaRPr lang="en-US" sz="32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C5B187-1AA1-B09D-FFFC-3AB6E9DC6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3485" y="1695120"/>
                <a:ext cx="4071258" cy="1077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4BCF9AC-1D5F-4AD6-C82F-1C749FA96ABE}"/>
              </a:ext>
            </a:extLst>
          </p:cNvPr>
          <p:cNvSpPr txBox="1"/>
          <p:nvPr/>
        </p:nvSpPr>
        <p:spPr>
          <a:xfrm>
            <a:off x="947220" y="1030808"/>
            <a:ext cx="1827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We have: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CBCD0-54E6-72E8-EB23-1AAFB0FDBB6D}"/>
              </a:ext>
            </a:extLst>
          </p:cNvPr>
          <p:cNvSpPr txBox="1"/>
          <p:nvPr/>
        </p:nvSpPr>
        <p:spPr>
          <a:xfrm>
            <a:off x="6862341" y="1030808"/>
            <a:ext cx="1778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We want: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FA72F9-FE06-8BB8-B4FF-C77D5B83436A}"/>
                  </a:ext>
                </a:extLst>
              </p:cNvPr>
              <p:cNvSpPr txBox="1"/>
              <p:nvPr/>
            </p:nvSpPr>
            <p:spPr>
              <a:xfrm>
                <a:off x="843558" y="1761249"/>
                <a:ext cx="28315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3200">
                          <a:latin typeface="Cambria Math" panose="02040503050406030204" pitchFamily="18" charset="0"/>
                        </a:rPr>
                        <m:t>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𝐅𝐏</m:t>
                          </m:r>
                        </m:e>
                      </m:d>
                      <m:r>
                        <a:rPr lang="en-US" sz="3200" b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p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l-GR" sz="3200"/>
                        <m:t>Λ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US" sz="3200" b="1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FA72F9-FE06-8BB8-B4FF-C77D5B834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58" y="1761249"/>
                <a:ext cx="2831524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F027E1-EE61-31F6-EA09-40770530D0AA}"/>
                  </a:ext>
                </a:extLst>
              </p:cNvPr>
              <p:cNvSpPr txBox="1"/>
              <p:nvPr/>
            </p:nvSpPr>
            <p:spPr>
              <a:xfrm>
                <a:off x="843558" y="2498039"/>
                <a:ext cx="562273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3200" smtClean="0">
                          <a:latin typeface="Cambria Math" panose="02040503050406030204" pitchFamily="18" charset="0"/>
                        </a:rPr>
                        <m:t>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𝐅𝐏</m:t>
                          </m:r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 b="1"/>
                            <m:t>++ </m:t>
                          </m:r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𝐚𝐜𝐭𝐢𝐨𝐧</m:t>
                          </m:r>
                        </m:e>
                      </m:d>
                      <m:r>
                        <a:rPr lang="en-US" sz="3200" b="1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p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l-GR" sz="3200"/>
                        <m:t>Λ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US" sz="3200" b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F027E1-EE61-31F6-EA09-40770530D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58" y="2498039"/>
                <a:ext cx="562273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13F7E693-7692-BF96-5966-BFB8DCFB56BF}"/>
              </a:ext>
            </a:extLst>
          </p:cNvPr>
          <p:cNvGrpSpPr/>
          <p:nvPr/>
        </p:nvGrpSpPr>
        <p:grpSpPr>
          <a:xfrm>
            <a:off x="3192039" y="3057345"/>
            <a:ext cx="2903961" cy="2275104"/>
            <a:chOff x="3192039" y="3057345"/>
            <a:chExt cx="2903961" cy="2275104"/>
          </a:xfrm>
        </p:grpSpPr>
        <p:sp>
          <p:nvSpPr>
            <p:cNvPr id="7" name="Left Bracket 6">
              <a:extLst>
                <a:ext uri="{FF2B5EF4-FFF2-40B4-BE49-F238E27FC236}">
                  <a16:creationId xmlns:a16="http://schemas.microsoft.com/office/drawing/2014/main" id="{5606F4CE-E106-ABDC-76CC-5BE292097E1B}"/>
                </a:ext>
              </a:extLst>
            </p:cNvPr>
            <p:cNvSpPr/>
            <p:nvPr/>
          </p:nvSpPr>
          <p:spPr>
            <a:xfrm rot="5400000" flipH="1">
              <a:off x="4708709" y="2633917"/>
              <a:ext cx="129537" cy="976394"/>
            </a:xfrm>
            <a:prstGeom prst="leftBracket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5207E66-B42D-2F58-1B8E-6372DABC6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92039" y="3490913"/>
              <a:ext cx="2903961" cy="184153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5FBFBD-F6A9-668A-D236-E89763EDCDA7}"/>
                  </a:ext>
                </a:extLst>
              </p:cNvPr>
              <p:cNvSpPr txBox="1"/>
              <p:nvPr/>
            </p:nvSpPr>
            <p:spPr>
              <a:xfrm>
                <a:off x="947220" y="5543884"/>
                <a:ext cx="562273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3200" smtClean="0">
                          <a:latin typeface="Cambria Math" panose="02040503050406030204" pitchFamily="18" charset="0"/>
                        </a:rPr>
                        <m:t>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𝐅𝐏</m:t>
                          </m:r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 b="1"/>
                            <m:t>++ </m:t>
                          </m:r>
                          <m:r>
                            <a:rPr lang="en-US" sz="3200" b="1">
                              <a:latin typeface="Cambria Math" panose="02040503050406030204" pitchFamily="18" charset="0"/>
                            </a:rPr>
                            <m:t>𝐚𝐜𝐭𝐢𝐨𝐧</m:t>
                          </m:r>
                        </m:e>
                      </m:d>
                      <m:r>
                        <a:rPr lang="en-US" sz="32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US" sz="3200" b="1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5FBFBD-F6A9-668A-D236-E89763EDC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20" y="5543884"/>
                <a:ext cx="5622734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87B724-BC28-A0A2-DEA8-FFED7A0FE0AF}"/>
              </a:ext>
            </a:extLst>
          </p:cNvPr>
          <p:cNvCxnSpPr/>
          <p:nvPr/>
        </p:nvCxnSpPr>
        <p:spPr>
          <a:xfrm>
            <a:off x="2013857" y="3276600"/>
            <a:ext cx="0" cy="205584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Checkmark with solid fill">
            <a:extLst>
              <a:ext uri="{FF2B5EF4-FFF2-40B4-BE49-F238E27FC236}">
                <a16:creationId xmlns:a16="http://schemas.microsoft.com/office/drawing/2014/main" id="{6DAED0B8-F2FE-08D5-98BA-07807D7FE8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77566" y="5558446"/>
            <a:ext cx="584775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1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F4B72-ED66-5980-8C40-5DAB73102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FE0517-40A4-CB7E-BB5B-A04B4F22EC90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BCE5BE2-EC10-E01C-D7F6-539C06E41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Example: A Simple Path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3065692-888A-6F6A-CE7D-43A7EF936714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13D9258-9EE7-3360-054D-483E874C6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12435"/>
            <a:ext cx="7772400" cy="303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85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86B7A-0A95-4004-EE56-C98937B0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49F976-1A50-3A45-D5E4-3E86C6E57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12435"/>
            <a:ext cx="7772400" cy="303313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65F200-BB91-44CC-F37D-68DA278C851A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25DBE6B-846B-FBCD-34E2-FEAC055FD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Example: A Simple Path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1DBDCA-D1E1-D9D2-8D87-98D3F2EB014F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281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F31BE-8FF6-CD5A-C42F-6941C4DE9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0320D2-6B7C-9044-F435-D2AB64AB5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12433"/>
            <a:ext cx="7772400" cy="303313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D03F8B-244A-1617-6133-58B75B334643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8F1F6E3-F8C3-5E2B-4566-C3DEF986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Example: A Simple Path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5DB261F-2E46-F013-5C65-C325DE875045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772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BC529-9CF4-E6B6-36E1-E24A1020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DFD98E-0000-1BBB-43C1-436A173E72F5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81A952-D3CB-082F-AEF7-59F101840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Example: A Simple Path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D08754-66B8-6968-E05C-ECA8FA076B86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6603103-686C-A443-F002-290D47622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35" y="2025427"/>
            <a:ext cx="10760730" cy="280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581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7FDA8-634C-22F2-AE1C-A74DDF10C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A1C654-33AB-EA9B-4677-0008CF39A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17" y="2025396"/>
            <a:ext cx="10760967" cy="280720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6CABDC-F532-B284-551C-CB7BD87109BB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9172CB9-5540-F0CD-4BEC-CBF32FABD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Example: A Simple Path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371A23-784D-DCEC-CC28-B02CDEBB8F39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699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2B9B1-6E3E-51C0-A538-647CEB676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E17D62-50D2-AEB0-C2EF-F6CC79AA1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17" y="2025396"/>
            <a:ext cx="10760967" cy="280720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F12BA4-3020-59D6-CF50-95AFF9EAC425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25DAEA6-5CF9-51A7-2C64-ACDBD86C0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Example: A Simple Path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4B3CC9-4463-7686-8049-F3CB19C40FF3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797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A06B4-5744-A1CD-371E-BDEDF5FF5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BD7449-168E-D7A7-A90F-949C458405E9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900010B-4952-E000-614E-2CEE42AB1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Example: A Simple Path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0C0338-706E-363C-33A9-6473CA6A07DB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18FF999-6A69-3F0E-725B-B6E7086E1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48" y="1911096"/>
            <a:ext cx="7842504" cy="303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589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3D5E7-1B5C-5E44-D397-5A18CA575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2A7857-A220-9AB0-624F-DB7B038949B9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9101356-39E0-78A8-7C19-DC1C5064A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Example: A Simple Path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B112AFE-0683-54C9-6D53-30D31AE1B748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333EB98-C4A8-37A3-E319-ECBFF09C7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09928"/>
            <a:ext cx="7774895" cy="363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516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224FA-83E2-5C34-D23C-EA2442CA2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E74B6D-A988-866D-85E8-52A4565B75D5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E06A5A3-95DE-7F56-C057-718187090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Example: A Simple Path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2EB29E-25B3-BEE8-DFE4-C212BBC6DA37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E236EFF-8723-2CBB-C06E-ECBA5ECD4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09928"/>
            <a:ext cx="7772400" cy="363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70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DCB46-2091-8A0F-B949-AFC267880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D3F5DF-7B01-51E8-2059-5DFC78B8989C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65039B5-FE68-A3B0-F570-DA201B7E9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Example: A Simple Path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3F239A7-B386-DAAD-7F4B-E5CF6278BB73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4843528-D104-A191-F3B9-7C5EFF868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13818"/>
            <a:ext cx="7772400" cy="463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939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2B519-9ED9-7A9E-6C4A-645FE5042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D32464-D72E-AC3C-2D32-4A12D918F562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3AB0671-BFDB-0AA3-18E1-DD4C4742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Example: A Simple Path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DBA671-59AC-7958-868B-2C974641DE43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F088A36-3247-257C-41F9-F36799CA5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13818"/>
            <a:ext cx="7772400" cy="463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247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55194-9872-7A61-C4BE-D1DE516DE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1D78B1-8658-3867-6AE9-5FD9A903FDEC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D6E4C7F-3D2B-DEF5-7FB7-D75BB88D1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Example: A Simple Path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D1B4434-72B5-681E-072D-998AC25A7FF1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2F816BF-73D5-8767-DE70-FBB698FC5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13818"/>
            <a:ext cx="7772400" cy="463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143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AFB51-B9F5-33D0-EEC6-5B18D9C6B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FB3079-A9C9-AFF2-729D-94DD343F55A5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02E23A6-E098-2B52-60BC-C96FC32A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Example: A Simple Path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13E251-8977-EF2D-377D-493D00BCC8B4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4B37D05-F1B2-9EDA-2827-F91424E59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48" y="1911096"/>
            <a:ext cx="7842504" cy="303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6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37F82-6B62-70D3-368E-258D10F95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ACF262-88DE-8A94-F62F-892B3DCEEB6E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B0E31D0-1E7B-6C3F-3E08-1D67DCD8F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Example: A Simple Path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E2216CD-0DFD-A4B0-E7AC-9D4AC083423E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F29AB92-098E-92F3-7752-025E2C9EE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057400"/>
            <a:ext cx="11658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5329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0A9A8-F3A3-F009-3A90-C7A59AEDB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34C527-CE8E-1346-906B-3FF8DFC16E37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9DD6405-8370-E6B9-9531-02347E9B2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Example: A Simple Path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9D7942-CD91-FED4-DB57-86EEE7318297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330691E-9F71-076B-4F87-72F4170FA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057400"/>
            <a:ext cx="11658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570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67FC1-6077-F04B-BB26-8D5187C03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3C0FF81-4DE6-F51A-1FD0-1C81C1D81955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D962F81-6507-07D0-F793-FE62BF29A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Example: A Simple Path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90AA5E-2DC7-22BF-20D3-9D3E9BC7B2D3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31CF004-B64B-F1B4-5FE2-E51F41FA6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057400"/>
            <a:ext cx="11658600" cy="274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8F3B4A-7A6C-E449-BA58-BEE466A25253}"/>
              </a:ext>
            </a:extLst>
          </p:cNvPr>
          <p:cNvSpPr txBox="1"/>
          <p:nvPr/>
        </p:nvSpPr>
        <p:spPr>
          <a:xfrm>
            <a:off x="2844745" y="5060796"/>
            <a:ext cx="62308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We’re safe!</a:t>
            </a:r>
          </a:p>
          <a:p>
            <a:pPr algn="ctr"/>
            <a:endParaRPr lang="en-US"/>
          </a:p>
          <a:p>
            <a:pPr algn="ctr"/>
            <a:r>
              <a:rPr lang="en-US"/>
              <a:t>(The aircraft’s trajectory is </a:t>
            </a:r>
            <a:r>
              <a:rPr lang="en-US" i="1"/>
              <a:t>always</a:t>
            </a:r>
            <a:r>
              <a:rPr lang="en-US"/>
              <a:t> inside the provided enclosure)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386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DF7EF-EC4F-04D5-9E1A-E1A45B607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24BCC9-CD34-87B0-100C-F2E9E31F60AB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A79ADAC-813E-1E5C-107A-76C184D6A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Future Work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C3374E-30DE-4D3F-A2E4-A16EAC8463BF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C434F86-9317-1DB5-8386-0188B622B447}"/>
              </a:ext>
            </a:extLst>
          </p:cNvPr>
          <p:cNvSpPr txBox="1"/>
          <p:nvPr/>
        </p:nvSpPr>
        <p:spPr>
          <a:xfrm>
            <a:off x="711901" y="2021604"/>
            <a:ext cx="11239680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/>
              <a:t>Expand to 3 dimensions</a:t>
            </a:r>
          </a:p>
          <a:p>
            <a:endParaRPr lang="en-US" sz="30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/>
              <a:t>Implement more specific flight actions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/>
              <a:t>Expand scope of current lemmas or show different safety properties</a:t>
            </a:r>
          </a:p>
        </p:txBody>
      </p:sp>
    </p:spTree>
    <p:extLst>
      <p:ext uri="{BB962C8B-B14F-4D97-AF65-F5344CB8AC3E}">
        <p14:creationId xmlns:p14="http://schemas.microsoft.com/office/powerpoint/2010/main" val="4006036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F8CD6-730F-8750-AA89-2F8C0CF65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CF7386-63C1-723E-B545-9C3FE34B6582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59FD71-2489-65FE-1F5E-F25B8954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Summary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C3084F-CEDA-4B33-7101-F0DAB4280CAB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6CF1D8B-3CA7-1A99-E3B5-DE8DB93E36EC}"/>
              </a:ext>
            </a:extLst>
          </p:cNvPr>
          <p:cNvSpPr txBox="1"/>
          <p:nvPr/>
        </p:nvSpPr>
        <p:spPr>
          <a:xfrm>
            <a:off x="422251" y="1451852"/>
            <a:ext cx="113474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This summer we…</a:t>
            </a:r>
          </a:p>
          <a:p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Developed a subtype of Hybrid Programs in PVS to represent flight trajectories and formally reason about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Proved that this definition only creates </a:t>
            </a:r>
            <a:r>
              <a:rPr lang="en-US" sz="2400" i="1"/>
              <a:t>flyable</a:t>
            </a:r>
            <a:r>
              <a:rPr lang="en-US" sz="2400"/>
              <a:t> paths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Created functions to query the state of an aircraft at any point in time during a flight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Designed a lemma and automated strategy to show that a given flight is within some enclosure</a:t>
            </a:r>
          </a:p>
          <a:p>
            <a:pPr marL="285750" indent="-285750">
              <a:buFontTx/>
              <a:buChar char="-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3592958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2E67D-FEAF-46DB-67D4-136CD8281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A22CCE-ACD0-395A-3AE5-5834E3BEE14B}"/>
              </a:ext>
            </a:extLst>
          </p:cNvPr>
          <p:cNvCxnSpPr/>
          <p:nvPr/>
        </p:nvCxnSpPr>
        <p:spPr>
          <a:xfrm>
            <a:off x="191787" y="6360028"/>
            <a:ext cx="11787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C496E99-9025-EBE6-0E90-9273493B2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-87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Thank You!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F28719-45D2-292A-95E8-5F6990073155}"/>
              </a:ext>
            </a:extLst>
          </p:cNvPr>
          <p:cNvCxnSpPr>
            <a:cxnSpLocks/>
          </p:cNvCxnSpPr>
          <p:nvPr/>
        </p:nvCxnSpPr>
        <p:spPr>
          <a:xfrm>
            <a:off x="337930" y="1007166"/>
            <a:ext cx="11244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5010380-678A-6FDD-1914-48E391C5B6C2}"/>
              </a:ext>
            </a:extLst>
          </p:cNvPr>
          <p:cNvSpPr txBox="1"/>
          <p:nvPr/>
        </p:nvSpPr>
        <p:spPr>
          <a:xfrm>
            <a:off x="1849531" y="2101360"/>
            <a:ext cx="849293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Questions?</a:t>
            </a:r>
          </a:p>
          <a:p>
            <a:pPr algn="ctr"/>
            <a:endParaRPr lang="en-US" sz="2800"/>
          </a:p>
          <a:p>
            <a:pPr algn="ctr"/>
            <a:r>
              <a:rPr lang="en-US" sz="2800"/>
              <a:t>A big thank you to: </a:t>
            </a:r>
          </a:p>
          <a:p>
            <a:pPr algn="ctr"/>
            <a:r>
              <a:rPr lang="en-US" sz="2800"/>
              <a:t>Cesar Munoz, Lauren White, Mariano Moscato,</a:t>
            </a:r>
          </a:p>
          <a:p>
            <a:pPr algn="ctr"/>
            <a:r>
              <a:rPr lang="en-US" sz="2800"/>
              <a:t>Laura </a:t>
            </a:r>
            <a:r>
              <a:rPr lang="en-US" sz="2800" err="1"/>
              <a:t>Gambao</a:t>
            </a:r>
            <a:r>
              <a:rPr lang="en-US" sz="2800"/>
              <a:t>, and the NASA Formal Methods Team</a:t>
            </a:r>
            <a:br>
              <a:rPr lang="en-US" sz="2800"/>
            </a:br>
            <a:br>
              <a:rPr lang="en-US" sz="2800"/>
            </a:br>
            <a:endParaRPr lang="en-US" sz="2800"/>
          </a:p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668917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005d458-45be-48ae-8140-d43da96dd17b}" enabled="0" method="" siteId="{7005d458-45be-48ae-8140-d43da96dd17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1386</Words>
  <Application>Microsoft Macintosh PowerPoint</Application>
  <PresentationFormat>Widescreen</PresentationFormat>
  <Paragraphs>221</Paragraphs>
  <Slides>36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Helvetica</vt:lpstr>
      <vt:lpstr>Menlo</vt:lpstr>
      <vt:lpstr>Wingdings</vt:lpstr>
      <vt:lpstr>Office Theme</vt:lpstr>
      <vt:lpstr>PowerPoint Presentation</vt:lpstr>
      <vt:lpstr>Detect and Avoid (DAA)</vt:lpstr>
      <vt:lpstr>How we apply formal methods</vt:lpstr>
      <vt:lpstr>Building Blocks of a Flight Program</vt:lpstr>
      <vt:lpstr>Definition of a Flight Program (ValidFP)</vt:lpstr>
      <vt:lpstr>Example of a Flight Program</vt:lpstr>
      <vt:lpstr>What does “flyable” mean?</vt:lpstr>
      <vt:lpstr>How we show “flyability”</vt:lpstr>
      <vt:lpstr>How we show “flyability”(cont)</vt:lpstr>
      <vt:lpstr>PVSIO Example</vt:lpstr>
      <vt:lpstr>Why Represent Flights This Way?</vt:lpstr>
      <vt:lpstr>The dL Sequent</vt:lpstr>
      <vt:lpstr>How it looks in PVS</vt:lpstr>
      <vt:lpstr>Proving Safety Properties of Flights</vt:lpstr>
      <vt:lpstr>Proving Safety Properties of Flights</vt:lpstr>
      <vt:lpstr>Using the lemma</vt:lpstr>
      <vt:lpstr>How we overcome this</vt:lpstr>
      <vt:lpstr>Example: A Simple Path</vt:lpstr>
      <vt:lpstr>Example: A Simple Path</vt:lpstr>
      <vt:lpstr>Example: A Simple Path</vt:lpstr>
      <vt:lpstr>Example: A Simple Path</vt:lpstr>
      <vt:lpstr>Example: A Simple Path</vt:lpstr>
      <vt:lpstr>Example: A Simple Path</vt:lpstr>
      <vt:lpstr>Example: A Simple Path</vt:lpstr>
      <vt:lpstr>Example: A Simple Path</vt:lpstr>
      <vt:lpstr>Example: A Simple Path</vt:lpstr>
      <vt:lpstr>Example: A Simple Path</vt:lpstr>
      <vt:lpstr>Example: A Simple Path</vt:lpstr>
      <vt:lpstr>Example: A Simple Path</vt:lpstr>
      <vt:lpstr>Example: A Simple Path</vt:lpstr>
      <vt:lpstr>Example: A Simple Path</vt:lpstr>
      <vt:lpstr>Example: A Simple Path</vt:lpstr>
      <vt:lpstr>Example: A Simple Path</vt:lpstr>
      <vt:lpstr>Future Work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Slagel, Tanner (LARC-D320)</dc:creator>
  <cp:lastModifiedBy>Crespo-Berker, Nicolas (LARC-D316)[Intern]</cp:lastModifiedBy>
  <cp:revision>1</cp:revision>
  <cp:lastPrinted>2025-07-25T18:32:48Z</cp:lastPrinted>
  <dcterms:created xsi:type="dcterms:W3CDTF">2023-06-27T12:52:04Z</dcterms:created>
  <dcterms:modified xsi:type="dcterms:W3CDTF">2025-08-08T14:04:41Z</dcterms:modified>
</cp:coreProperties>
</file>